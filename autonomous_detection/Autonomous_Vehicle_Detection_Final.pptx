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5387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1463040"/>
            <a:ext cx="0" cy="292608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32104" y="1463040"/>
            <a:ext cx="1076523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Internship  ·  Research Project  ·  2026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32104" y="1920240"/>
            <a:ext cx="9144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Vehicle &amp;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Detection System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32104" y="3730752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unified real-time perception pipeline: Object Detection · 3D BEV · Lane Detection · Depth Estimation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32104" y="4315968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 YOLOv11 · BEVFormer · BEVFusion · Ultra-Fast Lane · Depth Anything V2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32104" y="5029200"/>
            <a:ext cx="4572000" cy="0"/>
          </a:xfrm>
          <a:prstGeom prst="line">
            <a:avLst/>
          </a:prstGeom>
          <a:noFill/>
          <a:ln w="1016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2104" y="519379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Vishal Bansal  |  Krish Manwani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32104" y="559612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Datasets: KITTI · nuScenes    Training: HPC Cluster · SLURM · PyTorch DDP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Research Gaps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94360" y="1124712"/>
            <a:ext cx="11002975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472184"/>
            <a:ext cx="531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94360" y="1965960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23544" y="1965960"/>
            <a:ext cx="4989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vehicles, pedestrians, cyclists in real-time across all conditions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94360" y="2551176"/>
            <a:ext cx="5318608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660904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23544" y="2660904"/>
            <a:ext cx="4989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road lanes to maintain lane discipline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94360" y="3246120"/>
            <a:ext cx="5318608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3355848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23544" y="3355848"/>
            <a:ext cx="4989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distance to obstacles from a single camera (monocular depth)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94360" y="3941064"/>
            <a:ext cx="5318608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4050792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23544" y="4050792"/>
            <a:ext cx="4989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collision risk before it occurs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94360" y="4636008"/>
            <a:ext cx="5318608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4745736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23544" y="4745736"/>
            <a:ext cx="4989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tasks must run simultaneously in one system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095848" y="1380744"/>
            <a:ext cx="0" cy="5029200"/>
          </a:xfrm>
          <a:prstGeom prst="line">
            <a:avLst/>
          </a:prstGeom>
          <a:noFill/>
          <a:ln w="10160">
            <a:solidFill>
              <a:srgbClr val="D1D5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78728" y="1472184"/>
            <a:ext cx="531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in Existing Literature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78728" y="1965960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662776" y="1965960"/>
            <a:ext cx="493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pipeline — all 15 papers solve tasks in isolation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278728" y="2660904"/>
            <a:ext cx="5318608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78728" y="2770632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62776" y="2770632"/>
            <a:ext cx="493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16-point NDS gap: camera-only (56.9) vs LiDAR+camera (72.9)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278728" y="3465576"/>
            <a:ext cx="5318608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78728" y="3575304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G3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662776" y="3575304"/>
            <a:ext cx="493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+ tracking never combined for Time-to-Collision estimation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278728" y="4270248"/>
            <a:ext cx="5318608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78728" y="4379976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G4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662776" y="4379976"/>
            <a:ext cx="493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DINO never benchmarked on driving datasets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278728" y="5074920"/>
            <a:ext cx="5318608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78728" y="5184648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G5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662776" y="5184648"/>
            <a:ext cx="493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joint ADAS evaluation metric across tasks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11048695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94360" y="1124712"/>
            <a:ext cx="11002975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179576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papers  ·  CVPR · ECCV · ICCV · NeurIPS · ICRA · IEEE TPAMI · CoRL  (2018–2024)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1581912"/>
            <a:ext cx="11002975" cy="329184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6" name="Text 4"/>
          <p:cNvSpPr/>
          <p:nvPr/>
        </p:nvSpPr>
        <p:spPr>
          <a:xfrm>
            <a:off x="649224" y="1581912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069848" y="158191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 / Paper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398264" y="1581912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861304" y="158191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470648" y="1581912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939528" y="1581912"/>
            <a:ext cx="2304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94360" y="1911096"/>
            <a:ext cx="11002975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" y="1911096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69848" y="1911096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 et al. · BEVFormer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398264" y="1911096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ECCV 2022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861304" y="191109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BEVFormer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470648" y="1911096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56.9 NDS · 46.0 mAP (nuScenes)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939528" y="1911096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Camera-only; low-light degradation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94360" y="2221992"/>
            <a:ext cx="11002975" cy="310896"/>
          </a:xfrm>
          <a:prstGeom prst="rect">
            <a:avLst/>
          </a:prstGeom>
          <a:solidFill>
            <a:srgbClr val="F9FAFB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" y="222199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69848" y="222199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Liu et al. · BEVFusion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398264" y="222199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ICRA 2023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861304" y="222199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BEVFusion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470648" y="2221992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72.9 NDS · 70.2 mAP (nuScenes)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939528" y="2221992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LiDAR + calibration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94360" y="2532888"/>
            <a:ext cx="11002975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9224" y="2532888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69848" y="253288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Zhang et al. · ByteTrack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398264" y="253288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ECCV 2022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861304" y="253288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ByteTrack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470648" y="253288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80.3 MOTA · 77.3 IDF1 (MOT17)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9939528" y="2532888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ReID; dense crowd issues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94360" y="2843784"/>
            <a:ext cx="11002975" cy="310896"/>
          </a:xfrm>
          <a:prstGeom prst="rect">
            <a:avLst/>
          </a:prstGeom>
          <a:solidFill>
            <a:srgbClr val="F9FAFB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9224" y="2843784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69848" y="2843784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 et al. · Sparse4D v3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398264" y="2843784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 2023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861304" y="2843784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Sparse4D v3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7470648" y="2843784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56.1 NDS · 49.0 AMOTA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9939528" y="2843784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training cost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94360" y="3154680"/>
            <a:ext cx="11002975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9224" y="3154680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069848" y="315468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Wang et al. · StreamPETR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398264" y="315468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ICCV 2023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861304" y="315468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StreamPETR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7470648" y="3154680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67.6 NDS · 65.3 AMOTA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9939528" y="3154680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from temporal dep.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594360" y="3465576"/>
            <a:ext cx="11002975" cy="310896"/>
          </a:xfrm>
          <a:prstGeom prst="rect">
            <a:avLst/>
          </a:prstGeom>
          <a:solidFill>
            <a:srgbClr val="F9FAFB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9224" y="3465576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1069848" y="3465576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Zhao et al. · RT-DETR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4398264" y="3465576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CVPR 2024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5861304" y="346557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RT-DETR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7470648" y="3465576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53.1 AP @ 108 FPS (COCO)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9939528" y="3465576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memory than YOLO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594360" y="3776472"/>
            <a:ext cx="11002975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9224" y="377647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1069848" y="377647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Wang et al. · YOLOv10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4398264" y="377647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NeurIPS 2024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5861304" y="377647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YOLOv10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7470648" y="3776472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46.3 AP · 25% fewer params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9939528" y="3776472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NMS-free optimization complex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594360" y="4087368"/>
            <a:ext cx="11002975" cy="310896"/>
          </a:xfrm>
          <a:prstGeom prst="rect">
            <a:avLst/>
          </a:prstGeom>
          <a:solidFill>
            <a:srgbClr val="F9FAFB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49224" y="4087368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1069848" y="408736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Ultralytics · YOLOv11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4398264" y="408736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5861304" y="408736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YOLOv11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7470648" y="408736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54.7 mAP(x) · 22% fewer params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9939528" y="4087368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peer-reviewed publication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594360" y="4398264"/>
            <a:ext cx="11002975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49224" y="4398264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1069848" y="4398264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Zheng et al. · CLRNet</a:t>
            </a:r>
            <a:endParaRPr lang="en-US" sz="1050" dirty="0"/>
          </a:p>
        </p:txBody>
      </p:sp>
      <p:sp>
        <p:nvSpPr>
          <p:cNvPr id="71" name="Text 69"/>
          <p:cNvSpPr/>
          <p:nvPr/>
        </p:nvSpPr>
        <p:spPr>
          <a:xfrm>
            <a:off x="4398264" y="4398264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CVPR 2022</a:t>
            </a:r>
            <a:endParaRPr lang="en-US" sz="1050" dirty="0"/>
          </a:p>
        </p:txBody>
      </p:sp>
      <p:sp>
        <p:nvSpPr>
          <p:cNvPr id="72" name="Text 70"/>
          <p:cNvSpPr/>
          <p:nvPr/>
        </p:nvSpPr>
        <p:spPr>
          <a:xfrm>
            <a:off x="5861304" y="4398264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CLRNet</a:t>
            </a:r>
            <a:endParaRPr lang="en-US" sz="1050" dirty="0"/>
          </a:p>
        </p:txBody>
      </p:sp>
      <p:sp>
        <p:nvSpPr>
          <p:cNvPr id="73" name="Text 71"/>
          <p:cNvSpPr/>
          <p:nvPr/>
        </p:nvSpPr>
        <p:spPr>
          <a:xfrm>
            <a:off x="7470648" y="4398264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80.47 F1 (CULane)</a:t>
            </a:r>
            <a:endParaRPr lang="en-US" sz="1050" dirty="0"/>
          </a:p>
        </p:txBody>
      </p:sp>
      <p:sp>
        <p:nvSpPr>
          <p:cNvPr id="74" name="Text 72"/>
          <p:cNvSpPr/>
          <p:nvPr/>
        </p:nvSpPr>
        <p:spPr>
          <a:xfrm>
            <a:off x="9939528" y="4398264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Struggles with extreme curves</a:t>
            </a:r>
            <a:endParaRPr lang="en-US" sz="1050" dirty="0"/>
          </a:p>
        </p:txBody>
      </p:sp>
      <p:sp>
        <p:nvSpPr>
          <p:cNvPr id="75" name="Shape 73"/>
          <p:cNvSpPr/>
          <p:nvPr/>
        </p:nvSpPr>
        <p:spPr>
          <a:xfrm>
            <a:off x="594360" y="4709160"/>
            <a:ext cx="11002975" cy="310896"/>
          </a:xfrm>
          <a:prstGeom prst="rect">
            <a:avLst/>
          </a:prstGeom>
          <a:solidFill>
            <a:srgbClr val="F9FAFB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49224" y="4709160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1069848" y="470916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Qin et al. · UFLDv2</a:t>
            </a:r>
            <a:endParaRPr lang="en-US" sz="1050" dirty="0"/>
          </a:p>
        </p:txBody>
      </p:sp>
      <p:sp>
        <p:nvSpPr>
          <p:cNvPr id="78" name="Text 76"/>
          <p:cNvSpPr/>
          <p:nvPr/>
        </p:nvSpPr>
        <p:spPr>
          <a:xfrm>
            <a:off x="4398264" y="470916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TPAMI 2022</a:t>
            </a:r>
            <a:endParaRPr lang="en-US" sz="1050" dirty="0"/>
          </a:p>
        </p:txBody>
      </p:sp>
      <p:sp>
        <p:nvSpPr>
          <p:cNvPr id="79" name="Text 77"/>
          <p:cNvSpPr/>
          <p:nvPr/>
        </p:nvSpPr>
        <p:spPr>
          <a:xfrm>
            <a:off x="5861304" y="470916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UFLDv2</a:t>
            </a:r>
            <a:endParaRPr lang="en-US" sz="1050" dirty="0"/>
          </a:p>
        </p:txBody>
      </p:sp>
      <p:sp>
        <p:nvSpPr>
          <p:cNvPr id="80" name="Text 78"/>
          <p:cNvSpPr/>
          <p:nvPr/>
        </p:nvSpPr>
        <p:spPr>
          <a:xfrm>
            <a:off x="7470648" y="4709160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96.4 Acc · 300+ FPS (TuSimple)</a:t>
            </a:r>
            <a:endParaRPr lang="en-US" sz="1050" dirty="0"/>
          </a:p>
        </p:txBody>
      </p:sp>
      <p:sp>
        <p:nvSpPr>
          <p:cNvPr id="81" name="Text 79"/>
          <p:cNvSpPr/>
          <p:nvPr/>
        </p:nvSpPr>
        <p:spPr>
          <a:xfrm>
            <a:off x="9939528" y="4709160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grid; extreme angles</a:t>
            </a:r>
            <a:endParaRPr lang="en-US" sz="1050" dirty="0"/>
          </a:p>
        </p:txBody>
      </p:sp>
      <p:sp>
        <p:nvSpPr>
          <p:cNvPr id="82" name="Shape 80"/>
          <p:cNvSpPr/>
          <p:nvPr/>
        </p:nvSpPr>
        <p:spPr>
          <a:xfrm>
            <a:off x="594360" y="5020056"/>
            <a:ext cx="11002975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49224" y="5020056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84" name="Text 82"/>
          <p:cNvSpPr/>
          <p:nvPr/>
        </p:nvSpPr>
        <p:spPr>
          <a:xfrm>
            <a:off x="1069848" y="5020056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et al. · Depth Anything V2</a:t>
            </a:r>
            <a:endParaRPr lang="en-US" sz="1050" dirty="0"/>
          </a:p>
        </p:txBody>
      </p:sp>
      <p:sp>
        <p:nvSpPr>
          <p:cNvPr id="85" name="Text 83"/>
          <p:cNvSpPr/>
          <p:nvPr/>
        </p:nvSpPr>
        <p:spPr>
          <a:xfrm>
            <a:off x="4398264" y="5020056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NeurIPS 2024</a:t>
            </a:r>
            <a:endParaRPr lang="en-US" sz="1050" dirty="0"/>
          </a:p>
        </p:txBody>
      </p:sp>
      <p:sp>
        <p:nvSpPr>
          <p:cNvPr id="86" name="Text 84"/>
          <p:cNvSpPr/>
          <p:nvPr/>
        </p:nvSpPr>
        <p:spPr>
          <a:xfrm>
            <a:off x="5861304" y="502005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Anything V2</a:t>
            </a:r>
            <a:endParaRPr lang="en-US" sz="1050" dirty="0"/>
          </a:p>
        </p:txBody>
      </p:sp>
      <p:sp>
        <p:nvSpPr>
          <p:cNvPr id="87" name="Text 85"/>
          <p:cNvSpPr/>
          <p:nvPr/>
        </p:nvSpPr>
        <p:spPr>
          <a:xfrm>
            <a:off x="7470648" y="5020056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SOTA NYUv2 &amp; KITTI · 10× faster</a:t>
            </a:r>
            <a:endParaRPr lang="en-US" sz="1050" dirty="0"/>
          </a:p>
        </p:txBody>
      </p:sp>
      <p:sp>
        <p:nvSpPr>
          <p:cNvPr id="88" name="Text 86"/>
          <p:cNvSpPr/>
          <p:nvPr/>
        </p:nvSpPr>
        <p:spPr>
          <a:xfrm>
            <a:off x="9939528" y="5020056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 / tunnel drops</a:t>
            </a:r>
            <a:endParaRPr lang="en-US" sz="1050" dirty="0"/>
          </a:p>
        </p:txBody>
      </p:sp>
      <p:sp>
        <p:nvSpPr>
          <p:cNvPr id="89" name="Shape 87"/>
          <p:cNvSpPr/>
          <p:nvPr/>
        </p:nvSpPr>
        <p:spPr>
          <a:xfrm>
            <a:off x="594360" y="5330952"/>
            <a:ext cx="11002975" cy="310896"/>
          </a:xfrm>
          <a:prstGeom prst="rect">
            <a:avLst/>
          </a:prstGeom>
          <a:solidFill>
            <a:srgbClr val="F9FAFB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49224" y="533095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91" name="Text 89"/>
          <p:cNvSpPr/>
          <p:nvPr/>
        </p:nvSpPr>
        <p:spPr>
          <a:xfrm>
            <a:off x="1069848" y="533095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 et al. · PointPillars</a:t>
            </a:r>
            <a:endParaRPr lang="en-US" sz="1050" dirty="0"/>
          </a:p>
        </p:txBody>
      </p:sp>
      <p:sp>
        <p:nvSpPr>
          <p:cNvPr id="92" name="Text 90"/>
          <p:cNvSpPr/>
          <p:nvPr/>
        </p:nvSpPr>
        <p:spPr>
          <a:xfrm>
            <a:off x="4398264" y="533095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CVPR 2019</a:t>
            </a:r>
            <a:endParaRPr lang="en-US" sz="1050" dirty="0"/>
          </a:p>
        </p:txBody>
      </p:sp>
      <p:sp>
        <p:nvSpPr>
          <p:cNvPr id="93" name="Text 91"/>
          <p:cNvSpPr/>
          <p:nvPr/>
        </p:nvSpPr>
        <p:spPr>
          <a:xfrm>
            <a:off x="5861304" y="533095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PointPillars</a:t>
            </a:r>
            <a:endParaRPr lang="en-US" sz="1050" dirty="0"/>
          </a:p>
        </p:txBody>
      </p:sp>
      <p:sp>
        <p:nvSpPr>
          <p:cNvPr id="94" name="Text 92"/>
          <p:cNvSpPr/>
          <p:nvPr/>
        </p:nvSpPr>
        <p:spPr>
          <a:xfrm>
            <a:off x="7470648" y="5330952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82.58 AP Car @ 62 Hz (KITTI)</a:t>
            </a:r>
            <a:endParaRPr lang="en-US" sz="1050" dirty="0"/>
          </a:p>
        </p:txBody>
      </p:sp>
      <p:sp>
        <p:nvSpPr>
          <p:cNvPr id="95" name="Text 93"/>
          <p:cNvSpPr/>
          <p:nvPr/>
        </p:nvSpPr>
        <p:spPr>
          <a:xfrm>
            <a:off x="9939528" y="5330952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Loses vertical spatial info</a:t>
            </a:r>
            <a:endParaRPr lang="en-US" sz="1050" dirty="0"/>
          </a:p>
        </p:txBody>
      </p:sp>
      <p:sp>
        <p:nvSpPr>
          <p:cNvPr id="96" name="Shape 94"/>
          <p:cNvSpPr/>
          <p:nvPr/>
        </p:nvSpPr>
        <p:spPr>
          <a:xfrm>
            <a:off x="594360" y="5641848"/>
            <a:ext cx="11002975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649224" y="5641848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98" name="Text 96"/>
          <p:cNvSpPr/>
          <p:nvPr/>
        </p:nvSpPr>
        <p:spPr>
          <a:xfrm>
            <a:off x="1069848" y="564184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Zhou &amp; Tuzel · VoxelNet</a:t>
            </a:r>
            <a:endParaRPr lang="en-US" sz="1050" dirty="0"/>
          </a:p>
        </p:txBody>
      </p:sp>
      <p:sp>
        <p:nvSpPr>
          <p:cNvPr id="99" name="Text 97"/>
          <p:cNvSpPr/>
          <p:nvPr/>
        </p:nvSpPr>
        <p:spPr>
          <a:xfrm>
            <a:off x="4398264" y="564184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CVPR 2018</a:t>
            </a:r>
            <a:endParaRPr lang="en-US" sz="1050" dirty="0"/>
          </a:p>
        </p:txBody>
      </p:sp>
      <p:sp>
        <p:nvSpPr>
          <p:cNvPr id="100" name="Text 98"/>
          <p:cNvSpPr/>
          <p:nvPr/>
        </p:nvSpPr>
        <p:spPr>
          <a:xfrm>
            <a:off x="5861304" y="564184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VoxelNet</a:t>
            </a:r>
            <a:endParaRPr lang="en-US" sz="1050" dirty="0"/>
          </a:p>
        </p:txBody>
      </p:sp>
      <p:sp>
        <p:nvSpPr>
          <p:cNvPr id="101" name="Text 99"/>
          <p:cNvSpPr/>
          <p:nvPr/>
        </p:nvSpPr>
        <p:spPr>
          <a:xfrm>
            <a:off x="7470648" y="564184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SOTA KITTI (2018)</a:t>
            </a:r>
            <a:endParaRPr lang="en-US" sz="1050" dirty="0"/>
          </a:p>
        </p:txBody>
      </p:sp>
      <p:sp>
        <p:nvSpPr>
          <p:cNvPr id="102" name="Text 100"/>
          <p:cNvSpPr/>
          <p:nvPr/>
        </p:nvSpPr>
        <p:spPr>
          <a:xfrm>
            <a:off x="9939528" y="5641848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Memory-intensive; not real-time</a:t>
            </a:r>
            <a:endParaRPr lang="en-US" sz="1050" dirty="0"/>
          </a:p>
        </p:txBody>
      </p:sp>
      <p:sp>
        <p:nvSpPr>
          <p:cNvPr id="103" name="Shape 101"/>
          <p:cNvSpPr/>
          <p:nvPr/>
        </p:nvSpPr>
        <p:spPr>
          <a:xfrm>
            <a:off x="594360" y="5952744"/>
            <a:ext cx="11002975" cy="310896"/>
          </a:xfrm>
          <a:prstGeom prst="rect">
            <a:avLst/>
          </a:prstGeom>
          <a:solidFill>
            <a:srgbClr val="F9FAFB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649224" y="5952744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105" name="Text 103"/>
          <p:cNvSpPr/>
          <p:nvPr/>
        </p:nvSpPr>
        <p:spPr>
          <a:xfrm>
            <a:off x="1069848" y="5952744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Wang et al. · DETR3D</a:t>
            </a:r>
            <a:endParaRPr lang="en-US" sz="1050" dirty="0"/>
          </a:p>
        </p:txBody>
      </p:sp>
      <p:sp>
        <p:nvSpPr>
          <p:cNvPr id="106" name="Text 104"/>
          <p:cNvSpPr/>
          <p:nvPr/>
        </p:nvSpPr>
        <p:spPr>
          <a:xfrm>
            <a:off x="4398264" y="5952744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CoRL 2022</a:t>
            </a:r>
            <a:endParaRPr lang="en-US" sz="1050" dirty="0"/>
          </a:p>
        </p:txBody>
      </p:sp>
      <p:sp>
        <p:nvSpPr>
          <p:cNvPr id="107" name="Text 105"/>
          <p:cNvSpPr/>
          <p:nvPr/>
        </p:nvSpPr>
        <p:spPr>
          <a:xfrm>
            <a:off x="5861304" y="5952744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DETR3D</a:t>
            </a:r>
            <a:endParaRPr lang="en-US" sz="1050" dirty="0"/>
          </a:p>
        </p:txBody>
      </p:sp>
      <p:sp>
        <p:nvSpPr>
          <p:cNvPr id="108" name="Text 106"/>
          <p:cNvSpPr/>
          <p:nvPr/>
        </p:nvSpPr>
        <p:spPr>
          <a:xfrm>
            <a:off x="7470648" y="5952744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42.5 NDS · 34.6 mAP</a:t>
            </a:r>
            <a:endParaRPr lang="en-US" sz="1050" dirty="0"/>
          </a:p>
        </p:txBody>
      </p:sp>
      <p:sp>
        <p:nvSpPr>
          <p:cNvPr id="109" name="Text 107"/>
          <p:cNvSpPr/>
          <p:nvPr/>
        </p:nvSpPr>
        <p:spPr>
          <a:xfrm>
            <a:off x="9939528" y="5952744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temporal modeling</a:t>
            </a:r>
            <a:endParaRPr lang="en-US" sz="1050" dirty="0"/>
          </a:p>
        </p:txBody>
      </p:sp>
      <p:sp>
        <p:nvSpPr>
          <p:cNvPr id="110" name="Shape 108"/>
          <p:cNvSpPr/>
          <p:nvPr/>
        </p:nvSpPr>
        <p:spPr>
          <a:xfrm>
            <a:off x="594360" y="6263640"/>
            <a:ext cx="11002975" cy="310896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649224" y="6263640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112" name="Text 110"/>
          <p:cNvSpPr/>
          <p:nvPr/>
        </p:nvSpPr>
        <p:spPr>
          <a:xfrm>
            <a:off x="1069848" y="626364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Liu et al. · Grounding DINO</a:t>
            </a:r>
            <a:endParaRPr lang="en-US" sz="1050" dirty="0"/>
          </a:p>
        </p:txBody>
      </p:sp>
      <p:sp>
        <p:nvSpPr>
          <p:cNvPr id="113" name="Text 111"/>
          <p:cNvSpPr/>
          <p:nvPr/>
        </p:nvSpPr>
        <p:spPr>
          <a:xfrm>
            <a:off x="4398264" y="626364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ECCV 2024</a:t>
            </a:r>
            <a:endParaRPr lang="en-US" sz="1050" dirty="0"/>
          </a:p>
        </p:txBody>
      </p:sp>
      <p:sp>
        <p:nvSpPr>
          <p:cNvPr id="114" name="Text 112"/>
          <p:cNvSpPr/>
          <p:nvPr/>
        </p:nvSpPr>
        <p:spPr>
          <a:xfrm>
            <a:off x="5861304" y="626364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DINO</a:t>
            </a:r>
            <a:endParaRPr lang="en-US" sz="1050" dirty="0"/>
          </a:p>
        </p:txBody>
      </p:sp>
      <p:sp>
        <p:nvSpPr>
          <p:cNvPr id="115" name="Text 113"/>
          <p:cNvSpPr/>
          <p:nvPr/>
        </p:nvSpPr>
        <p:spPr>
          <a:xfrm>
            <a:off x="7470648" y="6263640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52.5 AP zero-shot (COCO)</a:t>
            </a:r>
            <a:endParaRPr lang="en-US" sz="1050" dirty="0"/>
          </a:p>
        </p:txBody>
      </p:sp>
      <p:sp>
        <p:nvSpPr>
          <p:cNvPr id="116" name="Text 114"/>
          <p:cNvSpPr/>
          <p:nvPr/>
        </p:nvSpPr>
        <p:spPr>
          <a:xfrm>
            <a:off x="9939528" y="6263640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tested on driving data</a:t>
            </a:r>
            <a:endParaRPr lang="en-US" sz="1050" dirty="0"/>
          </a:p>
        </p:txBody>
      </p:sp>
      <p:sp>
        <p:nvSpPr>
          <p:cNvPr id="117" name="Text 115"/>
          <p:cNvSpPr/>
          <p:nvPr/>
        </p:nvSpPr>
        <p:spPr>
          <a:xfrm>
            <a:off x="11048695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94360" y="1124712"/>
            <a:ext cx="11002975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179576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real-time perception pipeline — camera-first, HPC-trained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1746504"/>
            <a:ext cx="1696669" cy="1371600"/>
          </a:xfrm>
          <a:prstGeom prst="rect">
            <a:avLst/>
          </a:prstGeom>
          <a:solidFill>
            <a:srgbClr val="F3F4F6"/>
          </a:solidFill>
          <a:ln w="10160">
            <a:solidFill>
              <a:srgbClr val="11111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856232"/>
            <a:ext cx="169666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/ Video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91029" y="2432304"/>
            <a:ext cx="164592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55621" y="1746504"/>
            <a:ext cx="1696669" cy="1371600"/>
          </a:xfrm>
          <a:prstGeom prst="rect">
            <a:avLst/>
          </a:prstGeom>
          <a:solidFill>
            <a:srgbClr val="FFFFFF"/>
          </a:solidFill>
          <a:ln w="10160">
            <a:solidFill>
              <a:srgbClr val="11111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55621" y="1856232"/>
            <a:ext cx="169666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YOLOv11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92781" y="2551176"/>
            <a:ext cx="1422349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10485" y="2624328"/>
            <a:ext cx="158694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Detection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Boxes + Classes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152290" y="2432304"/>
            <a:ext cx="164592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16882" y="1746504"/>
            <a:ext cx="1696669" cy="1371600"/>
          </a:xfrm>
          <a:prstGeom prst="rect">
            <a:avLst/>
          </a:prstGeom>
          <a:solidFill>
            <a:srgbClr val="FFFFFF"/>
          </a:solidFill>
          <a:ln w="10160">
            <a:solidFill>
              <a:srgbClr val="11111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16882" y="1856232"/>
            <a:ext cx="169666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Ultra-Fast</a:t>
            </a:r>
            <a:endParaRPr lang="en-US" sz="12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Lane v2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454042" y="2551176"/>
            <a:ext cx="1422349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71746" y="2624328"/>
            <a:ext cx="158694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Lane Detection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&gt; 96%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13552" y="2432304"/>
            <a:ext cx="164592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78144" y="1746504"/>
            <a:ext cx="1696669" cy="1371600"/>
          </a:xfrm>
          <a:prstGeom prst="rect">
            <a:avLst/>
          </a:prstGeom>
          <a:solidFill>
            <a:srgbClr val="FFFFFF"/>
          </a:solidFill>
          <a:ln w="10160">
            <a:solidFill>
              <a:srgbClr val="11111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78144" y="1856232"/>
            <a:ext cx="169666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</a:t>
            </a:r>
            <a:endParaRPr lang="en-US" sz="12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V2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15304" y="2551176"/>
            <a:ext cx="1422349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33008" y="2624328"/>
            <a:ext cx="158694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Monocular Depth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Distance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874813" y="2432304"/>
            <a:ext cx="164592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39405" y="1746504"/>
            <a:ext cx="1696669" cy="1371600"/>
          </a:xfrm>
          <a:prstGeom prst="rect">
            <a:avLst/>
          </a:prstGeom>
          <a:solidFill>
            <a:srgbClr val="FFFFFF"/>
          </a:solidFill>
          <a:ln w="10160">
            <a:solidFill>
              <a:srgbClr val="11111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39405" y="1856232"/>
            <a:ext cx="169666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ByteTrack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176565" y="2551176"/>
            <a:ext cx="1422349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94269" y="2624328"/>
            <a:ext cx="158694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Multi-Object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+ Velocity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736074" y="2432304"/>
            <a:ext cx="164592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900666" y="1746504"/>
            <a:ext cx="1696669" cy="1371600"/>
          </a:xfrm>
          <a:prstGeom prst="rect">
            <a:avLst/>
          </a:prstGeom>
          <a:solidFill>
            <a:srgbClr val="F3F4F6"/>
          </a:solidFill>
          <a:ln w="10160">
            <a:solidFill>
              <a:srgbClr val="11111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900666" y="1856232"/>
            <a:ext cx="169666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TTC</a:t>
            </a:r>
            <a:endParaRPr lang="en-US" sz="12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Calculator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0037826" y="2551176"/>
            <a:ext cx="1422349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955530" y="2624328"/>
            <a:ext cx="158694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 Risk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Time-to-Collision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94360" y="3438144"/>
            <a:ext cx="11002975" cy="566928"/>
          </a:xfrm>
          <a:prstGeom prst="rect">
            <a:avLst/>
          </a:prstGeom>
          <a:solidFill>
            <a:srgbClr val="F3F4F6"/>
          </a:solidFill>
          <a:ln w="7620">
            <a:solidFill>
              <a:srgbClr val="11111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" y="3447288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 —  Annotated frame: Bounding Boxes · Track IDs · Lane Overlay · Depth Map · TTC Value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Export: ONNX  ·  TensorRT (3–5× faster)  ·  CoreML  ·  OpenVINO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94360" y="4215384"/>
            <a:ext cx="1100297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3D Branch: BEVFormer (camera-only, NDS 56.9) and BEVFusion (LiDAR+camera, NDS 72.9) trained on HPC cluster via SLURM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1048695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&amp; Datasets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94360" y="1124712"/>
            <a:ext cx="11002975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490472"/>
            <a:ext cx="60516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94360" y="198424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103120" y="1984248"/>
            <a:ext cx="45428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YOLOv11  ·  YOLOv10  ·  RT-DETR  ·  Grounding DINO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2551176"/>
            <a:ext cx="6051636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660904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/ BEV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103120" y="2660904"/>
            <a:ext cx="45428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BEVFormer  ·  BEVFusion  ·  Sparse4D v3  ·  StreamPETR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3227832"/>
            <a:ext cx="6051636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333756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Lane &amp; Depth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103120" y="3337560"/>
            <a:ext cx="45428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Ultra-Fast Lane v2  ·  CLRNet  ·  Depth Anything V2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" y="3904488"/>
            <a:ext cx="6051636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4014216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103120" y="4014216"/>
            <a:ext cx="45428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ByteTrack  ·  BotSort  ·  Simple IoU Tracker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" y="4581144"/>
            <a:ext cx="6051636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4690872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103120" y="4690872"/>
            <a:ext cx="45428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 ·  MMDetection3D  ·  Ultralytics  ·  Albumentations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4360" y="5257800"/>
            <a:ext cx="6051636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536752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103120" y="5367528"/>
            <a:ext cx="45428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 ·  TensorRT  ·  CoreML  ·  OpenVINO  ·  TensorBoard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700860" y="1380744"/>
            <a:ext cx="0" cy="5029200"/>
          </a:xfrm>
          <a:prstGeom prst="line">
            <a:avLst/>
          </a:prstGeom>
          <a:noFill/>
          <a:ln w="1016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55724" y="1490472"/>
            <a:ext cx="46212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755724" y="1984248"/>
            <a:ext cx="46212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KITTI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755724" y="2295144"/>
            <a:ext cx="46212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+ 3D detection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755724" y="2542032"/>
            <a:ext cx="46212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7,481 frames · 8 classes · stereo + LiDAR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755724" y="2953512"/>
            <a:ext cx="462125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55724" y="3063240"/>
            <a:ext cx="46212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nuScenes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755724" y="3374136"/>
            <a:ext cx="46212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BEV detection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755724" y="3621024"/>
            <a:ext cx="46212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28k frames · 10 classes · 6 cams + LiDAR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755724" y="4032504"/>
            <a:ext cx="462125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55724" y="4142232"/>
            <a:ext cx="46212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TuSimple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755724" y="4453128"/>
            <a:ext cx="46212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Lane detection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755724" y="4700016"/>
            <a:ext cx="46212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3,626 train clips · 96.4% UFLD accuracy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755724" y="5111496"/>
            <a:ext cx="4621250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55724" y="5221224"/>
            <a:ext cx="46212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CULane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755724" y="5532120"/>
            <a:ext cx="46212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Lane detection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755724" y="5779008"/>
            <a:ext cx="46212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88k train frames · urban &amp; highway scenes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1048695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Strategy &amp; Expected Results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94360" y="1124712"/>
            <a:ext cx="11002975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490472"/>
            <a:ext cx="57215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HPC Distributed Training  (SLURM + PyTorch DDP)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94360" y="201168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/ GPUs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377440" y="2011680"/>
            <a:ext cx="393846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nodes × 8 GPUs = 32 GPUs total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2505456"/>
            <a:ext cx="5721547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60604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377440" y="2606040"/>
            <a:ext cx="393846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torchrun + NCCL all-reduce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3099816"/>
            <a:ext cx="5721547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320040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batch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377440" y="3200400"/>
            <a:ext cx="393846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batch_per_gpu × 32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" y="3694176"/>
            <a:ext cx="5721547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79476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377440" y="3794760"/>
            <a:ext cx="393846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precision AMP  (~2× speedup)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" y="4288536"/>
            <a:ext cx="5721547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438912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scaling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377440" y="4389120"/>
            <a:ext cx="393846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warmup with batch size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4360" y="4882896"/>
            <a:ext cx="5721547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498348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377440" y="4983480"/>
            <a:ext cx="393846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TensorBoard  ·  WandB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370771" y="1380744"/>
            <a:ext cx="0" cy="5029200"/>
          </a:xfrm>
          <a:prstGeom prst="line">
            <a:avLst/>
          </a:prstGeom>
          <a:noFill/>
          <a:ln w="1016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7347" y="1490472"/>
            <a:ext cx="49513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Targets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7347" y="2011680"/>
            <a:ext cx="49513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YOLOv11 (KITTI)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7347" y="2322576"/>
            <a:ext cx="49513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mAP@0.5  ≥ 85%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7347" y="2615184"/>
            <a:ext cx="4951339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7347" y="2724912"/>
            <a:ext cx="49513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YOLOv11 (nuScenes)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7347" y="3035808"/>
            <a:ext cx="49513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mAP@0.5  ≥ 60%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407347" y="3328416"/>
            <a:ext cx="4951339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7347" y="3438144"/>
            <a:ext cx="49513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BEVFormer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07347" y="3749040"/>
            <a:ext cx="49513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NDS  ≥ 50%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407347" y="4041648"/>
            <a:ext cx="4951339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7347" y="4151376"/>
            <a:ext cx="49513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BEVFusion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07347" y="4462272"/>
            <a:ext cx="49513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NDS  ≥ 70%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407347" y="4754880"/>
            <a:ext cx="4951339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7347" y="4864608"/>
            <a:ext cx="49513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UFLDv2 (TuSimple)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407347" y="5175504"/>
            <a:ext cx="49513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 ≥ 96%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407347" y="5468112"/>
            <a:ext cx="4951339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7347" y="5577840"/>
            <a:ext cx="49513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TTC System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407347" y="5888736"/>
            <a:ext cx="49513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 &lt; 50 ms (RTX 3090)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11048695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94360" y="1124712"/>
            <a:ext cx="11002975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179576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our work contributes to the field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158191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5-Task Pipeline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572000" y="1581912"/>
            <a:ext cx="702533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open-source system combining object detection + lane detection + depth estimation + tracking + TTC in one inference graph.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94360" y="2404872"/>
            <a:ext cx="11002975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53288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TTC Estimation  (Closes G3)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72000" y="2532888"/>
            <a:ext cx="702533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integration of ByteTrack per-object velocity with Depth Anything V2 metric depth for real-time Time-to-Collision prediction.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94360" y="3355848"/>
            <a:ext cx="11002975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348386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Open-Vocabulary on Driving Data  (Closes G4)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572000" y="3483864"/>
            <a:ext cx="702533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benchmark evaluation of Grounding DINO on KITTI and nuScenes — establishing a zero-shot baseline for autonomous driving.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94360" y="4306824"/>
            <a:ext cx="11002975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44348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vs Fusion Study  (Closes G2)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0" y="4434840"/>
            <a:ext cx="702533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comparison of BEVFormer (camera-only) vs BEVFusion (LiDAR+camera) under identical HPC training conditions.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94360" y="5257800"/>
            <a:ext cx="11002975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538581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HPC-Ready Codebase  (Closes G1)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72000" y="5385816"/>
            <a:ext cx="702533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 with SLURM scripts, DDP training, ONNX/TensorRT export and MMDetection3D integration — open source.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048695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1645920"/>
            <a:ext cx="0" cy="274320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32104" y="1691640"/>
            <a:ext cx="8229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32104" y="29260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32104" y="3657600"/>
            <a:ext cx="4572000" cy="0"/>
          </a:xfrm>
          <a:prstGeom prst="line">
            <a:avLst/>
          </a:prstGeom>
          <a:noFill/>
          <a:ln w="1016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" y="3840480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Vishal Bansal  |  Krish Manwani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2104" y="425196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Internship Project  ·  2026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32104" y="5029200"/>
            <a:ext cx="1076523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Papers: BEVFormer (ECCV'22) · BEVFusion (ICRA'23) · Sparse4D v3 · StreamPETR (ICCV'23) · RT-DETR (CVPR'24) · YOLOv10/11 · CLRNet (CVPR'22) · UFLDv2 (TPAMI'22) · Depth Anything V2 (NeurIPS'24) · PointPillars (CVPR'19) · VoxelNet (CVPR'18) · DETR3D (CoRL'22) · Grounding DINO (ECCV'24) · ByteTrack (ECCV'22)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32104" y="6355080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Datasets: KITTI · nuScenes · TuSimple · CULane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1115</Words>
  <Application>Microsoft Office PowerPoint</Application>
  <PresentationFormat>Widescreen</PresentationFormat>
  <Paragraphs>239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Autonomous Vehicle &amp; Object Detection System</dc:title>
  <dc:subject>PptxGenJS Presentation</dc:subject>
  <dc:creator>Vishal Bansal &amp; Krish Manwani</dc:creator>
  <cp:lastModifiedBy>Vishal Bansal</cp:lastModifiedBy>
  <cp:revision>3</cp:revision>
  <dcterms:created xsi:type="dcterms:W3CDTF">2026-06-22T08:52:54Z</dcterms:created>
  <dcterms:modified xsi:type="dcterms:W3CDTF">2026-06-22T08:56:05Z</dcterms:modified>
</cp:coreProperties>
</file>