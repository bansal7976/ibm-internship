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IBM INTERNSHIP    RESEARCH PROJECT   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20116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>
              <a:defRPr b="1"/>
            </a:pPr>
            <a:r>
              <a:rPr sz="4200" b="1" i="0">
                <a:solidFill>
                  <a:srgbClr val="1C3557"/>
                </a:solidFill>
                <a:latin typeface="Calibri Light"/>
              </a:rPr>
              <a:t>Autonomous Vehicle &amp;
Object Detection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5486400" cy="3175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0058400" cy="457200"/>
          </a:xfrm>
          <a:prstGeom prst="rect">
            <a:avLst/>
          </a:prstGeom>
          <a:noFill/>
          <a:ln>
            <a:solidFill>
              <a:srgbClr val="93C5F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75569"/>
                </a:solidFill>
                <a:latin typeface="Calibri Light"/>
              </a:rPr>
              <a:t>A Unified Real-Time Perception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Object Detection    3D BEV Perception    Lane Detection    Depth Estimation    Collision Avoidance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1097280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Powered by YOLOv11    BEVFormer    BEVFusion    Ultra-Fast Lane    Depth Anything V2    ByteTrack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3716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457200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Datasets: KITTI    nuScenes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897880"/>
            <a:ext cx="548640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Training: HPC Cluster    SLURM    PyTorch DDP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3557"/>
                </a:solidFill>
                <a:latin typeface="Calibri Light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18488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56232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What is the core challenge in autonomous driving perception?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95144"/>
            <a:ext cx="502920" cy="5029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68296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13432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Literature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51176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15 high-impact papers: object detection, 3D BEV, lane,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0088"/>
            <a:ext cx="502920" cy="5029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08376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Research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Critical gaps identified from surveyed literature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85032"/>
            <a:ext cx="502920" cy="5029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58184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03320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Proposed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941064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Our unified 5-task real-time perception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79976"/>
            <a:ext cx="502920" cy="5029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53128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98264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Tech Stack &amp; Datasets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636008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Models, frameworks, KITTI &amp; nuScenes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74920"/>
            <a:ext cx="502920" cy="5029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48072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93207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HPC Training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330952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Distributed training, SLURM, PyTorch DDP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769864"/>
            <a:ext cx="502920" cy="5029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43016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788152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Contributions &amp;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025896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How our work advances the state of the 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libri Light"/>
              </a:rPr>
              <a:t>What Problem Are We Solving?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—  Vehicles, pedestrians, cyclists must be detected in real-time
     across all weather conditions and lighting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0632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—  Road lanes must be identified to keep the vehicle in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75304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—  Distance to surrounding objects must be estimated from a
     single camera (no LiDAR dependency)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79976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—  Collision risk must be predicted before it happens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84648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—  All of this must run simultaneously, in one system, in real-time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5394960" cy="489204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5029200" cy="27432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THE GAP IN EXISTING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993392"/>
            <a:ext cx="5166359" cy="12700"/>
          </a:xfrm>
          <a:prstGeom prst="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148840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Papers solve each task in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53512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953512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No unified real-time pipeline exists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58184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58184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Depth &amp; tracking never combined
    for collision estimation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62856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562856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Open-vocab detection never tested
    on driving benchmarks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67528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367528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 Light"/>
              </a:rPr>
              <a:t>No joint evaluation metric for ADAS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 Light"/>
              </a:rPr>
              <a:t>Survey of 15 High-Impact Papers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05840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 Light"/>
              </a:rPr>
              <a:t>Spanning CVPR  ECCV  ICCV  NeurIPS  ICRA  IEEE TPAMI  CoRL  (2018–2024)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2176272" cy="3749039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5 papers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 Light"/>
              </a:rPr>
              <a:t>Object
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1783080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YOLOv11, YOLOv10
RT-DETR
Grounding DINO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1737360"/>
            <a:ext cx="2176272" cy="3749039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5 papers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 Light"/>
              </a:rPr>
              <a:t>3D / BEV
Perception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7792" y="2852928"/>
            <a:ext cx="1783080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BEVFormer, BEVFusion
Sparse4D v3, StreamPETR
DETR3D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9784" y="1737360"/>
            <a:ext cx="2176272" cy="3749039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2 papers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 Light"/>
              </a:rPr>
              <a:t>LiDAR
Encoding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66944" y="2852928"/>
            <a:ext cx="1783080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PointPillars
VoxelNet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88936" y="1737360"/>
            <a:ext cx="2176272" cy="3749039"/>
          </a:xfrm>
          <a:prstGeom prst="rect">
            <a:avLst/>
          </a:prstGeom>
          <a:solidFill>
            <a:srgbClr val="2563E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3 papers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 Light"/>
              </a:rPr>
              <a:t>Lane &amp;
Depth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6096" y="2852928"/>
            <a:ext cx="1783079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CLRNet
UFLD v2
Depth Anything V2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48088" y="1737360"/>
            <a:ext cx="2176272" cy="3749039"/>
          </a:xfrm>
          <a:prstGeom prst="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5248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1 paper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 Light"/>
              </a:rPr>
              <a:t>Multi-Object
Tracking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8" y="2852928"/>
            <a:ext cx="1783079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5248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ByteTrack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15000"/>
            <a:ext cx="2743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Key Venues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 Light"/>
              </a:rPr>
              <a:t>CVPR    ECCV    ICCV    NeurIPS    ICRA    IEEE TPAMI    CoRL    arXiv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 Light"/>
              </a:rPr>
              <a:t>Papers 01–08: Detection, BEV &amp;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1C3557"/>
          </a:solidFill>
          <a:ln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536192"/>
            <a:ext cx="22860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536192"/>
            <a:ext cx="38404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Authors /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536192"/>
            <a:ext cx="10972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6983" y="1536192"/>
            <a:ext cx="15544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536192"/>
            <a:ext cx="228600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536192"/>
            <a:ext cx="242316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Limitation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20240"/>
            <a:ext cx="11521440" cy="566928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11680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1938528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Li et 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167128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BEVFormer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011680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ECCV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2011680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BEVFormer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1938528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56.9% NDS  46.0% mAP
(nuScenes)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38528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Camera-only; degrades
in low light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496312"/>
            <a:ext cx="11521440" cy="566928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587752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2514600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Liu et 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2743200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BEVFusion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2587752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ICRA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2587752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BEVFusion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2514600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72.9% NDS  70.2% mAP
(nuScenes)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514600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Needs LiDAR + Camera;
calibration sensitive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072384"/>
            <a:ext cx="11521440" cy="566928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163824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3090672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Zhang et 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3319272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ByteTrack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3163824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ECCV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264" y="3163824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ByteTrack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3090672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3557"/>
                </a:solidFill>
                <a:latin typeface="Calibri"/>
              </a:rPr>
              <a:t>80.3 MOTA  77.3 IDF1
(MOT17)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090672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No ReID; struggles in
extreme crowds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648456"/>
            <a:ext cx="11521440" cy="566928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739896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3666744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Lin et 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3895344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Sparse4D v3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3739896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arXiv 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3739896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Sparse4D v3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3666744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56.1% NDS  49.0% AMOTA
(nuScenes)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666744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Complex pipeline;
high training cost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224528"/>
            <a:ext cx="11521440" cy="566928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315968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4242816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Zhao et 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" y="4471416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 Light"/>
              </a:rPr>
              <a:t>RT-DETR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5696" y="4315968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CVPR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41264" y="4315968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3557"/>
                </a:solidFill>
                <a:latin typeface="Calibri"/>
              </a:rPr>
              <a:t>RT-DETR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4242816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3557"/>
                </a:solidFill>
                <a:latin typeface="Calibri"/>
              </a:rPr>
              <a:t>53.1% AP @ 108 FPS
(COCO)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242816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Higher memory than
YOLO during training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800600"/>
            <a:ext cx="11521440" cy="566928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892040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4818888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Wang et al.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5047488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YOLOv10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25696" y="4892040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NeurIPS 2024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41264" y="4892040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YOLOv10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14032" y="4818888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46.3% AP  25% fewer
params vs YOLOv9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4818888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NMS-free adds
optimization complexity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376672"/>
            <a:ext cx="11521440" cy="566928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468112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" y="5394960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Ultralytics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" y="5623560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YOLOv11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25696" y="5468112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41264" y="5468112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YOLOv11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14032" y="5394960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54.7% mAP (x)  22%
fewer params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394960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No peer-reviewed
publication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952744"/>
            <a:ext cx="11521440" cy="566928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044183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" y="5971031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Wang et al.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" y="6199631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StreamPETR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25696" y="6044183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ICCV 2023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41264" y="6044183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StreamPETR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14032" y="5971031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67.6% NDS  65.3%
AMOTA (nuScenes)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18320" y="5971031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Temporal dependency
increases latency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 Light"/>
              </a:rPr>
              <a:t>Papers 09–15: Lane, Depth, LiDAR &amp; Open-Vocabulary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1C3557"/>
          </a:solidFill>
          <a:ln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536192"/>
            <a:ext cx="22860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536192"/>
            <a:ext cx="38404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Authors /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536192"/>
            <a:ext cx="10972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6983" y="1536192"/>
            <a:ext cx="15544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536192"/>
            <a:ext cx="228600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536192"/>
            <a:ext cx="242316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Limitation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20240"/>
            <a:ext cx="11521440" cy="649224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29968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1956816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Zheng et 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194560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CLRNet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029968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CVPR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2029968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CLRNet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1956816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80.47% F1 (CULane)
97.89% (TuSimple)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56816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Larger model; struggles
with extreme curves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78608"/>
            <a:ext cx="11521440" cy="649224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688336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2615184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Qin et 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2852928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UFLDv2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2688336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IEEE TPAMI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2688336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UFLDv2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2615184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96.4% Acc  300+ FPS
(TuSimple)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615184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Fixed grid; misses
extreme-angle lanes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36976"/>
            <a:ext cx="11521440" cy="649224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346704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3273552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Yang et 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3511296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Depth Anything 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3346704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NeurIPS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264" y="3346704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Depth Anything 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3273552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SOTA NYUv2 &amp; KITTI
10× faster vs diffusion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273552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Night / tunnel
performance drops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895344"/>
            <a:ext cx="11521440" cy="649224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005072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3931920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Lang et 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4169663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PointPillars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4005072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CVPR 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4005072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PointPillars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3931920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82.58% AP Car
(KITTI Mod.) @ 62 Hz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931920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Loses fine-grained
vertical spatial info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553712"/>
            <a:ext cx="11521440" cy="649224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663440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4590288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Zhou &amp; Tuzel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" y="4828032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VoxelNet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5696" y="4663440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CVPR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41264" y="4663440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VoxelNet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4590288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SOTA KITTI (2018)
All 3 classes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590288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Memory-intensive;
not real-time (2018)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212079"/>
            <a:ext cx="11521440" cy="649224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321807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5248655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Wang et al.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5486399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 Light"/>
              </a:rPr>
              <a:t>DETR3D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25696" y="5321807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CoRL 2022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41264" y="5321807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C3557"/>
                </a:solidFill>
                <a:latin typeface="Calibri"/>
              </a:rPr>
              <a:t>DETR3D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14032" y="5248655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42.5% NDS  34.6% mAP
(nuScenes val)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5248655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No temporal modeling;
single frame only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870448"/>
            <a:ext cx="11521440" cy="649224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980176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" y="5907024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Liu et al.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" y="6144768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 Light"/>
              </a:rPr>
              <a:t>Grounding DINO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25696" y="5980176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57"/>
                </a:solidFill>
                <a:latin typeface="Calibri"/>
              </a:rPr>
              <a:t>ECCV 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41264" y="5980176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93B"/>
                </a:solidFill>
                <a:latin typeface="Calibri"/>
              </a:rPr>
              <a:t>Grounding DINO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14032" y="5907024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"/>
              </a:rPr>
              <a:t>52.5% AP zero-shot
(COCO)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907024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  <a:latin typeface="Calibri Light"/>
              </a:rPr>
              <a:t>Never tested on
driving benchmarks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RESEARCH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libri Light"/>
              </a:rPr>
              <a:t>What the Literature Leaves Unsolved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>
            <a:solidFill>
              <a:srgbClr val="93C5F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 Light"/>
              </a:rPr>
              <a:t>Critical gaps identified across 15 surveyed papers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822960" cy="2743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28216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C3557"/>
                </a:solidFill>
                <a:latin typeface="Calibri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709928"/>
            <a:ext cx="457200" cy="256032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57"/>
                </a:solidFill>
                <a:latin typeface="Calibri"/>
              </a:rPr>
              <a:t>G1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709928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No Unified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039112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All 15 papers solve tasks in isolation. No open-source system
combines detection + lane + depth + tracking + collision in real-time.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87752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87752"/>
            <a:ext cx="822960" cy="2743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24328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C3557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606040"/>
            <a:ext cx="457200" cy="256032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57"/>
                </a:solidFill>
                <a:latin typeface="Calibri"/>
              </a:rPr>
              <a:t>G2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606040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16-Point Camera vs LiDAR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935224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BEVFormer (camera) scores 56.9 NDS vs BEVFusion (LiDAR+cam) at 72.9 NDS.
This gap has persisted since 2022 with no clear solution.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83864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83864"/>
            <a:ext cx="822960" cy="2743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20440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C3557"/>
                </a:solidFill>
                <a:latin typeface="Calibri"/>
              </a:rPr>
              <a:t>CRITICAL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502152"/>
            <a:ext cx="457200" cy="256032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57"/>
                </a:solidFill>
                <a:latin typeface="Calibri"/>
              </a:rPr>
              <a:t>G3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502152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Depth + Tracking Never Fused for TTC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831336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Depth Anything V2 and ByteTrack are studied separately.
No paper combines them for Time-to-Collision collision warning.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79976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379976"/>
            <a:ext cx="822960" cy="2743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416552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C3557"/>
                </a:solidFill>
                <a:latin typeface="Calibri"/>
              </a:rPr>
              <a:t>MODERATE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398264"/>
            <a:ext cx="457200" cy="256032"/>
          </a:xfrm>
          <a:prstGeom prst="rect">
            <a:avLst/>
          </a:prstGeom>
          <a:noFill/>
          <a:ln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57"/>
                </a:solidFill>
                <a:latin typeface="Calibri"/>
              </a:rPr>
              <a:t>G4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398264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Grounding DINO Untested on Driving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727448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Paper 15 evaluates only on COCO/LVIS. Zero-shot performance
on KITTI and nuScenes has never been measured.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76088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276088"/>
            <a:ext cx="822960" cy="27432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312664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C3557"/>
                </a:solidFill>
                <a:latin typeface="Calibri"/>
              </a:rPr>
              <a:t>MODERATE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94375"/>
            <a:ext cx="457200" cy="256032"/>
          </a:xfrm>
          <a:prstGeom prst="rect">
            <a:avLst/>
          </a:prstGeom>
          <a:noFill/>
          <a:ln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57"/>
                </a:solidFill>
                <a:latin typeface="Calibri"/>
              </a:rPr>
              <a:t>G5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294375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No Joint ADAS Evaluation Metric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623559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COCO, CULane, MOT17 are all separate benchmarks.
No paper proposes a unified driving perception score.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 Light"/>
              </a:rPr>
              <a:t>Unified Real-Time Perception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05840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 Light"/>
              </a:rPr>
              <a:t>Five SOTA models connected into one inference graph — camera-first, HPC-trained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1783080" cy="182880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 Emoj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INPUT
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" y="2871216"/>
            <a:ext cx="1325880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 Light"/>
              </a:rPr>
              <a:t>Camera
Video /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2350008" y="1691640"/>
            <a:ext cx="1783080" cy="182880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 Emoj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YOLOv11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8608" y="2871216"/>
            <a:ext cx="1325879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1448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 Light"/>
              </a:rPr>
              <a:t>Object Detection
2D Boxes +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691640"/>
            <a:ext cx="1783080" cy="182880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 Emoj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7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Ultra-Fast
Lane v2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44568" y="2871216"/>
            <a:ext cx="1325880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7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 Light"/>
              </a:rPr>
              <a:t>Lane Detection
F1 &gt; 96%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7" y="1691640"/>
            <a:ext cx="1783080" cy="182880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7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 Emoj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7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Depth
Anything V2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0527" y="2871216"/>
            <a:ext cx="1325879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7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 Light"/>
              </a:rPr>
              <a:t>Monocular Depth
Metric Distance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8247888" y="1691640"/>
            <a:ext cx="1783080" cy="182880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 Emoj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ByteTrack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6488" y="2871216"/>
            <a:ext cx="1325879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7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 Light"/>
              </a:rPr>
              <a:t>Multi-Object
Tracking + Velocity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6688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10213848" y="1691640"/>
            <a:ext cx="1783080" cy="182880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05288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 Emoj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5288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TTC
Calculator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42448" y="2871216"/>
            <a:ext cx="1325879" cy="1270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5288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 Light"/>
              </a:rPr>
              <a:t>Collision Risk
Time-to-Collision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3840480"/>
            <a:ext cx="11384280" cy="109728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041648"/>
            <a:ext cx="1106424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293B"/>
                </a:solidFill>
                <a:latin typeface="Calibri"/>
              </a:rPr>
              <a:t>OUTPUT  —  Single annotated frame: Bounding Boxes    Track IDs    Lane Overlay    Depth Heatmap     Collision Warning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 Light"/>
              </a:rPr>
              <a:t>Export: ONNX    TensorRT (3–5× faster)    CoreML    OpenVINO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 Light"/>
              </a:rPr>
              <a:t>Training: BEVFormer (camera-only 3D) and BEVFusion (LiDAR+Camera 3D) run in parallel track on HPC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E293B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libri Light"/>
              </a:rPr>
              <a:t>Models, Frameworks &amp;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3566160" cy="32004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66544"/>
            <a:ext cx="3429000" cy="10160"/>
          </a:xfrm>
          <a:prstGeom prst="rect">
            <a:avLst/>
          </a:prstGeom>
          <a:solidFill>
            <a:srgbClr val="2563EB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YOLOv11 (2D, real-time)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96312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YOLOv10 (NMS-free)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43784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RT-DETR (transformer)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91256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Grounding DINO (open-vocab)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645920"/>
            <a:ext cx="54864" cy="1920240"/>
          </a:xfrm>
          <a:prstGeom prst="rect">
            <a:avLst/>
          </a:prstGeom>
          <a:solidFill>
            <a:srgbClr val="2563E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19072"/>
            <a:ext cx="3566160" cy="3200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557"/>
                </a:solidFill>
                <a:latin typeface="Calibri"/>
              </a:rPr>
              <a:t>3D / BEV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2" y="2066544"/>
            <a:ext cx="3428999" cy="10160"/>
          </a:xfrm>
          <a:prstGeom prst="rect">
            <a:avLst/>
          </a:prstGeom>
          <a:solidFill>
            <a:srgbClr val="2563EB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148840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BEVFormer (camera-only)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496312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BEVFusion (LiDAR+cam)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843784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Sparse4D v3 (temporal)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191256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StreamPETR (online)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8744" y="1645920"/>
            <a:ext cx="54864" cy="192024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1719072"/>
            <a:ext cx="3566160" cy="32004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Lane &amp; Depth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21624" y="2066544"/>
            <a:ext cx="3429000" cy="10160"/>
          </a:xfrm>
          <a:prstGeom prst="rect">
            <a:avLst/>
          </a:prstGeom>
          <a:solidFill>
            <a:srgbClr val="2563EB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2148840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Ultra-Fast Lane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496312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CLRNet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843784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Depth Anything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191256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Metric depth (absolute)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977639"/>
            <a:ext cx="54864" cy="1920240"/>
          </a:xfrm>
          <a:prstGeom prst="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050791"/>
            <a:ext cx="3566160" cy="32004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Tracking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398264"/>
            <a:ext cx="3429000" cy="10160"/>
          </a:xfrm>
          <a:prstGeom prst="rect">
            <a:avLst/>
          </a:prstGeom>
          <a:solidFill>
            <a:srgbClr val="2563EB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480559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ByteTrack (primary)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828031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BotSort (ReID-enhanced)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175503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Simple IoU Tracker (baseline)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5112" y="3977639"/>
            <a:ext cx="54864" cy="1920240"/>
          </a:xfrm>
          <a:prstGeom prst="rect">
            <a:avLst/>
          </a:prstGeom>
          <a:solidFill>
            <a:srgbClr val="2563E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4050791"/>
            <a:ext cx="3566160" cy="320040"/>
          </a:xfrm>
          <a:prstGeom prst="rect">
            <a:avLst/>
          </a:prstGeom>
          <a:noFill/>
          <a:ln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Frameworks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07992" y="4398264"/>
            <a:ext cx="3428999" cy="10160"/>
          </a:xfrm>
          <a:prstGeom prst="rect">
            <a:avLst/>
          </a:prstGeom>
          <a:solidFill>
            <a:srgbClr val="2563EB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7992" y="4480559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PyTorch + TorchVision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4828031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Ultralytics Ecosystem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5175503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MMDetection3D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7992" y="5522975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Albumentations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3977639"/>
            <a:ext cx="54864" cy="1920240"/>
          </a:xfrm>
          <a:prstGeom prst="rect">
            <a:avLst/>
          </a:prstGeom>
          <a:solidFill>
            <a:srgbClr val="2563E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4050791"/>
            <a:ext cx="3566160" cy="3200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Infra / Deploy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21624" y="4398264"/>
            <a:ext cx="3429000" cy="10160"/>
          </a:xfrm>
          <a:prstGeom prst="rect">
            <a:avLst/>
          </a:prstGeom>
          <a:solidFill>
            <a:srgbClr val="2563EB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1624" y="4480559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3557"/>
                </a:solidFill>
                <a:latin typeface="Calibri Light"/>
              </a:rPr>
              <a:t>  HPC + SLURM + DDP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4828031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Mixed Precision (AMP)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5175503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ONNX / TensorRT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1624" y="5522975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  TensorBoard / WandB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 Light"/>
              </a:rPr>
              <a:t>Benchmarks Used for Training &amp;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00200"/>
            <a:ext cx="64008" cy="4251960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3611880" cy="5029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3557"/>
                </a:solidFill>
                <a:latin typeface="Calibri Light"/>
              </a:rPr>
              <a:t>KITTI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361188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2D &amp; 3D Object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68880"/>
            <a:ext cx="3474720" cy="12700"/>
          </a:xfrm>
          <a:prstGeom prst="rect">
            <a:avLst/>
          </a:prstGeom>
          <a:solidFill>
            <a:srgbClr val="2563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78608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2578608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8 — Car, Van, Truck, Pedestrian,
Cyclist, Tram, Misc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36976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3236976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7,481 training / 7,518 testing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895344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3895344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Stereo camera + 64-beam Velodyne 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4553712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AP at 0.5/0.7 IoU (Easy / Moderate / Hard)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212079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5212079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cvlibs.net/datasets/kitti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1600200"/>
            <a:ext cx="64008" cy="4251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1627632"/>
            <a:ext cx="3611880" cy="5029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 Light"/>
              </a:rPr>
              <a:t>nuScenes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103120"/>
            <a:ext cx="361188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Multi-Camera 3D Detection &amp;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8848" y="2468880"/>
            <a:ext cx="3474719" cy="12700"/>
          </a:xfrm>
          <a:prstGeom prst="rect">
            <a:avLst/>
          </a:prstGeom>
          <a:solidFill>
            <a:srgbClr val="2563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2578608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578608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10 — Car, Truck, Bus, Pedestrian,
Cyclist, Motorcycle + 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236976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Samples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3236976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700 train / 150 val scenes (28k frames)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3895344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Sensors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41848" y="3895344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6 cameras + 1 LiDAR + 5 radars, 360°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553712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Metric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1848" y="4553712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NDS (nuScenes Detection Score), mAP, AMOTA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212079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41848" y="5212079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nuscenes.org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1600200"/>
            <a:ext cx="64008" cy="4251960"/>
          </a:xfrm>
          <a:prstGeom prst="rect">
            <a:avLst/>
          </a:prstGeom>
          <a:solidFill>
            <a:srgbClr val="2563E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7" y="1627632"/>
            <a:ext cx="36118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 Light"/>
              </a:rPr>
              <a:t>TuSimple
&amp; CULane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2103120"/>
            <a:ext cx="361188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 Light"/>
              </a:rPr>
              <a:t>Lane Detection Benchmarks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0767" y="2468880"/>
            <a:ext cx="3474720" cy="12700"/>
          </a:xfrm>
          <a:prstGeom prst="rect">
            <a:avLst/>
          </a:prstGeom>
          <a:solidFill>
            <a:srgbClr val="2563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7" y="2578608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TuSimple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3767" y="2578608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3,626 train / 2,782 test clips,
96.4% UFLD Acc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7" y="3236976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CULane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7" y="3236976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88k train / 34k test frames,
Challenging urban scenes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7" y="3895344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Metric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3767" y="3895344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F1@50 IoU (CULane), Accuracy (TuSimple)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7" y="4553712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Source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73767" y="4553712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 Light"/>
              </a:rPr>
              <a:t>github.com/TuSimple/tusimple-benchmark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TRAINING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libri Light"/>
              </a:rPr>
              <a:t>High Performance Computing — Distributed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PyTorch Distributed Data Parallel  (DDP)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 Light"/>
              </a:rPr>
              <a:t>  Each GPU holds a complete model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 Light"/>
              </a:rPr>
              <a:t>  Forward + backward run independently per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 Light"/>
              </a:rPr>
              <a:t>  Gradients synchronized via NCCL all-reduce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9584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 Light"/>
              </a:rPr>
              <a:t>  Effective batch = batch_per_gpu × num_gpus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05072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 Light"/>
              </a:rPr>
              <a:t>  LR scaled linearly with effective batch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 Light"/>
              </a:rPr>
              <a:t>  Mixed precision (AMP) gives ~2× speedup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00200"/>
            <a:ext cx="5349240" cy="466344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64208"/>
            <a:ext cx="5029200" cy="32004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SLURM Job Configuration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029968"/>
            <a:ext cx="5074920" cy="12700"/>
          </a:xfrm>
          <a:prstGeom prst="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48840"/>
            <a:ext cx="502920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557"/>
                </a:solidFill>
                <a:latin typeface="Consolas"/>
              </a:rPr>
              <a:t>#SBATCH --nodes=4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42032"/>
            <a:ext cx="502920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557"/>
                </a:solidFill>
                <a:latin typeface="Consolas"/>
              </a:rPr>
              <a:t>#SBATCH --gres=gpu:8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35224"/>
            <a:ext cx="502920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557"/>
                </a:solidFill>
                <a:latin typeface="Consolas"/>
              </a:rPr>
              <a:t>#SBATCH --time=48:00:00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28416"/>
            <a:ext cx="502920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ourier New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21608"/>
            <a:ext cx="502920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557"/>
                </a:solidFill>
                <a:latin typeface="Consolas"/>
              </a:rPr>
              <a:t>torchrun \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502920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557"/>
                </a:solidFill>
                <a:latin typeface="Consolas"/>
              </a:rPr>
              <a:t>  --nproc_per_node=8 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07992"/>
            <a:ext cx="502920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557"/>
                </a:solidFill>
                <a:latin typeface="Consolas"/>
              </a:rPr>
              <a:t>  --nnodes=4 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01183"/>
            <a:ext cx="502920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557"/>
                </a:solidFill>
                <a:latin typeface="Consolas"/>
              </a:rPr>
              <a:t>  --rdzv_backend=c10d \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294376"/>
            <a:ext cx="502920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557"/>
                </a:solidFill>
                <a:latin typeface="Consolas"/>
              </a:rPr>
              <a:t>  training/train_ddp.py \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687568"/>
            <a:ext cx="502920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557"/>
                </a:solidFill>
                <a:latin typeface="Consolas"/>
              </a:rPr>
              <a:t>  --config configs/yolo11.yaml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 Light"/>
              </a:rPr>
              <a:t>What Our Work Contributes to the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45920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2004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733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Unified 5-Task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842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First open-source system combining object detection + lane detection + depth estimation
+ multi-object tracking + collision warning into one real-time HPC-trainable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560320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320040" cy="36576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877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Novel TTC Estimation (Closes Gap G3)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986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First integration of ByteTrack per-object velocity with Depth Anything V2 metric depth
for real-time Time-to-Collision estimation from a single monocular camera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474720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32004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021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Open-Vocab on Driving Data (Closes Gap G4)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130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First evaluation of Grounding DINO on KITTI and nuScenes — establishing a zero-shot
baseline against fine-tuned YOLOv11 on driving benchmarks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389120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320040" cy="36576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Camera vs Fusion Comparison (Closes Gap G2)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274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Controlled comparison of BEVFormer (camera-only) vs BEVFusion (LiDAR+camera)
under identical training settings to quantify the sensor fusion benefit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5303520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49240"/>
            <a:ext cx="320040" cy="365760"/>
          </a:xfrm>
          <a:prstGeom prst="rect">
            <a:avLst/>
          </a:prstGeom>
          <a:noFill/>
          <a:ln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309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HPC-Ready Open Codebase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418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 Light"/>
              </a:rPr>
              <a:t>Full pipeline with SLURM scripts, DDP training, ONNX/TensorRT export and
MMDetection3D integration — reproducible on any HPC cluster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57"/>
                </a:solidFill>
                <a:latin typeface="Calibri"/>
              </a:rPr>
              <a:t>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libri Light"/>
              </a:rPr>
              <a:t>Performance Targets &amp; Evaluation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1188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118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5623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 Light"/>
              </a:rPr>
              <a:t>YOLOv11
(KITTI)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mAP@0.5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3383280" cy="45720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93B"/>
                </a:solidFill>
                <a:latin typeface="Calibri Light"/>
              </a:rPr>
              <a:t>≥ 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  <a:latin typeface="Calibri"/>
              </a:rPr>
              <a:t>2D Object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361188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36118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5623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 Light"/>
              </a:rPr>
              <a:t>YOLOv11
(nuScenes)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6888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mAP@0.5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15768"/>
            <a:ext cx="3383280" cy="45720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93B"/>
                </a:solidFill>
                <a:latin typeface="Calibri Light"/>
              </a:rPr>
              <a:t>≥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0040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  <a:latin typeface="Calibri"/>
              </a:rPr>
              <a:t>10-class vehicle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691640"/>
            <a:ext cx="361188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691640"/>
            <a:ext cx="3611880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85623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 Light"/>
              </a:rPr>
              <a:t>BEVFormer
(nuScenes)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46888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3557"/>
                </a:solidFill>
                <a:latin typeface="Calibri"/>
              </a:rPr>
              <a:t>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715768"/>
            <a:ext cx="3383280" cy="45720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93B"/>
                </a:solidFill>
                <a:latin typeface="Calibri Light"/>
              </a:rPr>
              <a:t>≥ 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0040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  <a:latin typeface="Calibri"/>
              </a:rPr>
              <a:t>Camera-only 3D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361188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23360"/>
            <a:ext cx="3611880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8795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 Light"/>
              </a:rPr>
              <a:t>BEVFusion
(nuScenes)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0060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C3557"/>
                </a:solidFill>
                <a:latin typeface="Calibri"/>
              </a:rPr>
              <a:t>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047488"/>
            <a:ext cx="3383280" cy="45720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93B"/>
                </a:solidFill>
                <a:latin typeface="Calibri Light"/>
              </a:rPr>
              <a:t>≥ 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3212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  <a:latin typeface="Calibri"/>
              </a:rPr>
              <a:t>LiDAR+Camera fusion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023360"/>
            <a:ext cx="361188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023360"/>
            <a:ext cx="3611880" cy="54864"/>
          </a:xfrm>
          <a:prstGeom prst="rect">
            <a:avLst/>
          </a:prstGeom>
          <a:solidFill>
            <a:srgbClr val="2563E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18795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 Light"/>
              </a:rPr>
              <a:t>UFLDv2
(TuSimple)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80060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047488"/>
            <a:ext cx="3383280" cy="45720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93B"/>
                </a:solidFill>
                <a:latin typeface="Calibri Light"/>
              </a:rPr>
              <a:t>≥ 96%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53212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  <a:latin typeface="Calibri"/>
              </a:rPr>
              <a:t>Lane detection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023360"/>
            <a:ext cx="361188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023360"/>
            <a:ext cx="3611880" cy="54864"/>
          </a:xfrm>
          <a:prstGeom prst="rect">
            <a:avLst/>
          </a:prstGeom>
          <a:solidFill>
            <a:srgbClr val="2563E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18795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alibri Light"/>
              </a:rPr>
              <a:t>TTC System
(combined)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80060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Latency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5047488"/>
            <a:ext cx="3383280" cy="45720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93B"/>
                </a:solidFill>
                <a:latin typeface="Calibri Light"/>
              </a:rPr>
              <a:t>&lt; 50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53212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  <a:latin typeface="Calibri"/>
              </a:rPr>
              <a:t>Real-time on RTX 3090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146304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C3557"/>
                </a:solidFill>
                <a:latin typeface="Calibri Light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017520"/>
            <a:ext cx="5760720" cy="25400"/>
          </a:xfrm>
          <a:prstGeom prst="rect">
            <a:avLst/>
          </a:prstGeom>
          <a:solidFill>
            <a:srgbClr val="2563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>
            <a:solidFill>
              <a:srgbClr val="93C5FD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Calibri Light"/>
              </a:rPr>
              <a:t>Autonomous Vehicle &amp; Object Detection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47120" cy="34747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 Light"/>
              </a:rPr>
              <a:t>BEVFormer (ECCV 2022)    BEVFusion (ICRA 2023)    Sparse4D v3 (arXiv 2023)    ByteTrack (ECCV 2022)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15968"/>
            <a:ext cx="11247120" cy="34747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 Light"/>
              </a:rPr>
              <a:t>CLRNet (CVPR 2022)    UFLDv2 (TPAMI 2022)    Depth Anything V2 (NeurIPS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0016"/>
            <a:ext cx="11247120" cy="34747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 Light"/>
              </a:rPr>
              <a:t>RT-DETR (CVPR 2024)    YOLOv10 (NeurIPS 2024)    YOLOv11 (Ultralytics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84064"/>
            <a:ext cx="11247120" cy="34747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 Light"/>
              </a:rPr>
              <a:t>PointPillars (CVPR 2019)    VoxelNet (CVPR 2018)    DETR3D (CoRL 2022)    Grounding DINO (ECCV 2024)    StreamPETR (ICCV 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1247120" cy="27432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Datasets: KITTI    nuScenes    TuSimple    CULane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Training Infrastructure: HPC Cluster    SLURM    PyTorch DDP    Mixed Precision 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