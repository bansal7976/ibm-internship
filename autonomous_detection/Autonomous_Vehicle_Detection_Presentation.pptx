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32004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IBM INTERNSHIP  ·  RESEARCH PROJECT  · 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20116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 Light"/>
              </a:rPr>
              <a:t>Autonomous Vehicle &amp;
Object Detection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154680"/>
            <a:ext cx="5486400" cy="3175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10058400" cy="457200"/>
          </a:xfrm>
          <a:prstGeom prst="rect">
            <a:avLst/>
          </a:prstGeom>
          <a:noFill/>
          <a:ln>
            <a:solidFill>
              <a:srgbClr val="93C5F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3C5FD"/>
                </a:solidFill>
                <a:latin typeface="Calibri Light"/>
              </a:rPr>
              <a:t>A Unified Real-Time Perception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1200" b="0">
                <a:solidFill>
                  <a:srgbClr val="E5E7EB"/>
                </a:solidFill>
                <a:latin typeface="Calibri"/>
              </a:rPr>
              <a:t>Object Detection  ·  3D BEV Perception  ·  Lane Detection  ·  Depth Estimation  ·  Collision Avoidance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51960"/>
            <a:ext cx="1097280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 Light"/>
              </a:rPr>
              <a:t>Powered by YOLOv11  ·  BEVFormer  ·  BEVFusion  ·  Ultra-Fast Lane  ·  Depth Anything V2  ·  ByteTrack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37160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897880"/>
            <a:ext cx="457200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"/>
              </a:rPr>
              <a:t>Datasets: KITTI  ·  nuScenes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897880"/>
            <a:ext cx="548640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E5E7EB"/>
                </a:solidFill>
                <a:latin typeface="Calibri"/>
              </a:rPr>
              <a:t>Training: HPC Cluster  ·  SLURM  ·  PyTorch DDP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 Light"/>
              </a:rPr>
              <a:t>Agenda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02920" cy="50292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73352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618488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56232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What is the core challenge in autonomous driving perception?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95144"/>
            <a:ext cx="502920" cy="50292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368296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313432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Literature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551176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15 high-impact papers: object detection, 3D BEV, lane, tracking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90088"/>
            <a:ext cx="502920" cy="50292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63240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08376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Research Gaps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Critical gaps identified from surveyed literature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85032"/>
            <a:ext cx="502920" cy="50292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758184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03320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Proposed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941064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Our unified 5-task real-time perception pipeline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79976"/>
            <a:ext cx="502920" cy="50292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453128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398264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Tech Stack &amp; Datasets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636008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Models, frameworks, KITTI &amp; nuScenes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074920"/>
            <a:ext cx="502920" cy="50292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48072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093207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HPC Training Strategy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330952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Distributed training, SLURM, PyTorch DDP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5769864"/>
            <a:ext cx="502920" cy="50292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43016"/>
            <a:ext cx="50292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788152"/>
            <a:ext cx="5029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  <a:latin typeface="Calibri"/>
              </a:rPr>
              <a:t>Contributions &amp; Impact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6025896"/>
            <a:ext cx="10515600" cy="25603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How our work advances the state of the 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What Problem Are We Solving?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4864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—  Vehicles, pedestrians, cyclists must be detected in real-time
     across all weather conditions and lighting scenarios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70632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—  Road lanes must be identified to keep the vehicle in lane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75304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—  Distance to surrounding objects must be estimated from a
     single camera (no LiDAR dependency)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79976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—  Collision risk must be predicted before it happens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84648"/>
            <a:ext cx="539496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—  All of this must run simultaneously, in one system, in real-time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5394960" cy="4892040"/>
          </a:xfrm>
          <a:prstGeom prst="rect">
            <a:avLst/>
          </a:prstGeom>
          <a:solidFill>
            <a:srgbClr val="142654"/>
          </a:solidFill>
          <a:ln>
            <a:solidFill>
              <a:srgbClr val="14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5029200" cy="27432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B6D4"/>
                </a:solidFill>
                <a:latin typeface="Calibri"/>
              </a:rPr>
              <a:t>THE GAP IN EXISTING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80" y="1993392"/>
            <a:ext cx="5166359" cy="127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148840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148840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Papers solve each task in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953512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953512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No unified real-time pipeline exists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58184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58184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Depth &amp; tracking never combined
    for collision estimation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562856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562856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Open-vocab detection never tested
    on driving benchmarks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5367528"/>
            <a:ext cx="36576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  <a:latin typeface="Calibri"/>
              </a:rPr>
              <a:t>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5367528"/>
            <a:ext cx="475488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 Light"/>
              </a:rPr>
              <a:t>No joint evaluation metric for ADAS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 Light"/>
              </a:rPr>
              <a:t>Survey of 15 High-Impact Papers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05840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 Light"/>
              </a:rPr>
              <a:t>Spanning CVPR · ECCV · ICCV · NeurIPS · ICRA · IEEE TPAMI · CoRL  (2018–2024)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37360"/>
            <a:ext cx="2176272" cy="3749039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5 papers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Object
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852928"/>
            <a:ext cx="1783080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 Light"/>
              </a:rPr>
              <a:t>YOLOv11, YOLOv10
RT-DETR
Grounding DINO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0632" y="1737360"/>
            <a:ext cx="2176272" cy="3749039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07792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5 papers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3D / BEV
Perception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7792" y="2852928"/>
            <a:ext cx="1783080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 Light"/>
              </a:rPr>
              <a:t>BEVFormer, BEVFusion
Sparse4D v3, StreamPETR
DETR3D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9784" y="1737360"/>
            <a:ext cx="2176272" cy="3749039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66944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2 papers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LiDAR
Encoding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66944" y="2852928"/>
            <a:ext cx="1783080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66944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 Light"/>
              </a:rPr>
              <a:t>PointPillars
VoxelNet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88936" y="1737360"/>
            <a:ext cx="2176272" cy="3749039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3 papers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Lane &amp;
Depth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6096" y="2852928"/>
            <a:ext cx="1783079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6096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 Light"/>
              </a:rPr>
              <a:t>CLRNet
UFLD v2
Depth Anything V2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48088" y="1737360"/>
            <a:ext cx="2176272" cy="3749039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85248" y="1810512"/>
            <a:ext cx="192024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1 paper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5248" y="2084831"/>
            <a:ext cx="1920240" cy="7315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 Light"/>
              </a:rPr>
              <a:t>Multi-Object
Tracking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85248" y="2852928"/>
            <a:ext cx="1783079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85248" y="2944368"/>
            <a:ext cx="1920240" cy="17373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 Light"/>
              </a:rPr>
              <a:t>ByteTrack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715000"/>
            <a:ext cx="274320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Key Venues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989320"/>
            <a:ext cx="1097280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 Light"/>
              </a:rPr>
              <a:t>CVPR  ·  ECCV  ·  ICCV  ·  NeurIPS  ·  ICRA  ·  IEEE TPAMI  ·  CoRL  ·  arXiv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 Light"/>
              </a:rPr>
              <a:t>Papers 01–08: Detection, BEV &amp; Tracking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536192"/>
            <a:ext cx="22860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536192"/>
            <a:ext cx="38404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Authors /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536192"/>
            <a:ext cx="10972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983" y="1536192"/>
            <a:ext cx="15544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536192"/>
            <a:ext cx="228600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536192"/>
            <a:ext cx="242316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20240"/>
            <a:ext cx="11521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11680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1938528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Li et 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167128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BEVFormer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011680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ECCV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2011680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BEVFormer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1938528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56.9% NDS · 46.0% mAP
(nuScenes)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38528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Camera-only; degrades
in low light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496312"/>
            <a:ext cx="11521440" cy="566928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587752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2514600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Liu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2743200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BEVFusion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2587752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ICRA 2023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2587752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BEVFusion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2514600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72.9% NDS · 70.2% mAP
(nuScenes)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514600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Needs LiDAR + Camera;
calibration sensitive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072384"/>
            <a:ext cx="11521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163824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3090672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Zhang et 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3319272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ByteTrack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163824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ECCV 2022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3163824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ByteTrack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3090672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80.3 MOTA · 77.3 IDF1
(MOT17)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090672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No ReID; struggles in
extreme crowds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648456"/>
            <a:ext cx="11521440" cy="566928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739896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666744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Lin et 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3895344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Sparse4D v3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3739896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arXiv 2023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3739896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Sparse4D v3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3666744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56.1% NDS · 49.0% AMOTA
(nuScenes)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666744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Complex pipeline;
high training cost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224528"/>
            <a:ext cx="11521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315968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4242816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Zhao et al.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" y="4471416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RT-DETR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5696" y="4315968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CVPR 2024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1264" y="4315968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RT-DETR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4242816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53.1% AP @ 108 FPS
(COCO)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242816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Higher memory than
YOLO during training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800600"/>
            <a:ext cx="11521440" cy="566928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4892040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4818888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Wang et al.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5047488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YOLOv10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25696" y="4892040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NeurIPS 2024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41264" y="4892040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YOLOv10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4032" y="4818888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46.3% AP · 25% fewer
params vs YOLOv9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4818888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NMS-free adds
optimization complexity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376672"/>
            <a:ext cx="115214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468112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" y="5394960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Ultralytics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" y="5623560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YOLOv11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25696" y="5468112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41264" y="5468112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YOLOv11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14032" y="5394960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54.7% mAP (x) · 22%
fewer params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394960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No peer-reviewed
publication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952744"/>
            <a:ext cx="11521440" cy="566928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65760" y="6044183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6072" y="5971031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Wang et al.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6072" y="6199631"/>
            <a:ext cx="379476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StreamPETR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425696" y="6044183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ICCV 2023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41264" y="6044183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StreamPETR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114032" y="5971031"/>
            <a:ext cx="22402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67.6% NDS · 65.3%
AMOTA (nuScenes)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418320" y="5971031"/>
            <a:ext cx="2377440" cy="50292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Temporal dependency
increases latency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 Light"/>
              </a:rPr>
              <a:t>Papers 09–15: Lane, Depth, LiDAR &amp; Open-Vocabulary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1521440" cy="347472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59" y="1536192"/>
            <a:ext cx="22860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  #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536192"/>
            <a:ext cx="38404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Authors / 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536192"/>
            <a:ext cx="10972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6983" y="1536192"/>
            <a:ext cx="155448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9752" y="1536192"/>
            <a:ext cx="228600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536192"/>
            <a:ext cx="2423160" cy="29260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Limitation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1920240"/>
            <a:ext cx="11521440" cy="6492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029968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1956816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Zheng et 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2194560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CLRNet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25696" y="2029968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CVPR 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41264" y="2029968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CLRNet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1956816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80.47% F1 (CULane)
97.89% (TuSimple)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1956816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Larger model; struggles
with extreme curves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578608"/>
            <a:ext cx="11521440" cy="649224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2688336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" y="2615184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Qin et 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2852928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UFLDv2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25696" y="2688336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IEEE TPAMI 2022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41264" y="2688336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UFLDv2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2615184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96.4% Acc · 300+ FPS
(TuSimple)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615184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Fixed grid; misses
extreme-angle lanes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236976"/>
            <a:ext cx="11521440" cy="6492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346704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" y="3273552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Yang et 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" y="3511296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Depth Anything V2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3346704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NeurIPS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41264" y="3346704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Depth Anything 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4032" y="3273552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SOTA NYUv2 &amp; KITTI
10× faster vs diffusion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3273552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Night / tunnel
performance drops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895344"/>
            <a:ext cx="11521440" cy="649224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005072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6072" y="3931920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Lang et 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" y="4169663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PointPillars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25696" y="4005072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CVPR 2019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41264" y="4005072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PointPillars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14032" y="3931920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82.58% AP Car
(KITTI Mod.) @ 62 Hz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931920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Loses fine-grained
vertical spatial info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4553712"/>
            <a:ext cx="11521440" cy="6492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4663440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" y="4590288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Zhou &amp; Tuzel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76072" y="4828032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VoxelNet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25696" y="4663440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CVPR 2018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541264" y="4663440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VoxelNet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14032" y="4590288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SOTA KITTI (2018)
All 3 classes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590288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Memory-intensive;
not real-time (2018)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212079"/>
            <a:ext cx="11521440" cy="649224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5321807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" y="5248655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Wang et al.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76072" y="5486399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DETR3D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25696" y="5321807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CoRL 2022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41264" y="5321807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DETR3D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14032" y="5248655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42.5% NDS · 34.6% mAP
(nuScenes val)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18320" y="5248655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No temporal modeling;
single frame only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0040" y="5870448"/>
            <a:ext cx="11521440" cy="64922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980176"/>
            <a:ext cx="201168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15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" y="5907024"/>
            <a:ext cx="3794760" cy="22860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Liu et al.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6072" y="6144768"/>
            <a:ext cx="379476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Calibri Light"/>
              </a:rPr>
              <a:t>Grounding DINO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25696" y="5980176"/>
            <a:ext cx="1078992" cy="41148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1F2A3C"/>
                </a:solidFill>
                <a:latin typeface="Calibri"/>
              </a:rPr>
              <a:t>ECCV 2024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41264" y="5980176"/>
            <a:ext cx="1536192" cy="41148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  <a:latin typeface="Calibri"/>
              </a:rPr>
              <a:t>Grounding DINO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14032" y="5907024"/>
            <a:ext cx="2240280" cy="5486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10B981"/>
                </a:solidFill>
                <a:latin typeface="Calibri"/>
              </a:rPr>
              <a:t>52.5% AP zero-shot
(COCO)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418320" y="5907024"/>
            <a:ext cx="2377440" cy="5486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EF4444"/>
                </a:solidFill>
                <a:latin typeface="Calibri Light"/>
              </a:rPr>
              <a:t>Never tested on
driving benchmarks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RESEARCH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What the Literature Leaves Unsolved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0058400" cy="365760"/>
          </a:xfrm>
          <a:prstGeom prst="rect">
            <a:avLst/>
          </a:prstGeom>
          <a:noFill/>
          <a:ln>
            <a:solidFill>
              <a:srgbClr val="93C5FD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3C5FD"/>
                </a:solidFill>
                <a:latin typeface="Calibri Light"/>
              </a:rPr>
              <a:t>Critical gaps identified across 15 surveyed papers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54864" cy="6858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822960" cy="2743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28216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709928"/>
            <a:ext cx="457200" cy="256032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G1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709928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Unified Pipeline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039112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 Light"/>
              </a:rPr>
              <a:t>All 15 papers solve tasks in isolation. No open-source system
combines detection + lane + depth + tracking + collision in real-time.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87752"/>
            <a:ext cx="54864" cy="6858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87752"/>
            <a:ext cx="822960" cy="2743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2624328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2606040"/>
            <a:ext cx="457200" cy="256032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G2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2606040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16-Point Camera vs LiDAR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935224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 Light"/>
              </a:rPr>
              <a:t>BEVFormer (camera) scores 56.9 NDS vs BEVFusion (LiDAR+cam) at 72.9 NDS.
This gap has persisted since 2022 with no clear solution.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83864"/>
            <a:ext cx="54864" cy="6858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83864"/>
            <a:ext cx="822960" cy="27432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520440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502152"/>
            <a:ext cx="457200" cy="256032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G3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502152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Depth + Tracking Never Fused for TTC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3831336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 Light"/>
              </a:rPr>
              <a:t>Depth Anything V2 and ByteTrack are studied separately.
No paper combines them for Time-to-Collision collision warning.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79976"/>
            <a:ext cx="54864" cy="685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" y="4379976"/>
            <a:ext cx="822960" cy="274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416552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00200" y="4398264"/>
            <a:ext cx="457200" cy="256032"/>
          </a:xfrm>
          <a:prstGeom prst="rect">
            <a:avLst/>
          </a:prstGeom>
          <a:noFill/>
          <a:ln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G4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4398264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Grounding DINO Untested on Driving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727448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 Light"/>
              </a:rPr>
              <a:t>Paper 15 evaluates only on COCO/LVIS. Zero-shot performance
on KITTI and nuScenes has never been measured.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76088"/>
            <a:ext cx="54864" cy="685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276088"/>
            <a:ext cx="822960" cy="274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5312664"/>
            <a:ext cx="804672" cy="219456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5294375"/>
            <a:ext cx="457200" cy="256032"/>
          </a:xfrm>
          <a:prstGeom prst="rect">
            <a:avLst/>
          </a:prstGeom>
          <a:noFill/>
          <a:ln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  <a:latin typeface="Calibri"/>
              </a:rPr>
              <a:t>G5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294375"/>
            <a:ext cx="4114800" cy="27432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No Joint ADAS Evaluation Metric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00200" y="5623559"/>
            <a:ext cx="10058400" cy="475488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  <a:latin typeface="Calibri Light"/>
              </a:rPr>
              <a:t>COCO, CULane, MOT17 are all separate benchmarks.
No paper proposes a unified driving perception score.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 Light"/>
              </a:rPr>
              <a:t>Unified Real-Time Perception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05840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280"/>
                </a:solidFill>
                <a:latin typeface="Calibri Light"/>
              </a:rPr>
              <a:t>Five SOTA models connected into one inference graph — camera-first, HPC-trained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1783080" cy="18288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 Emoji"/>
              </a:rPr>
              <a:t>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INPUT
SOURCE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7" y="2871216"/>
            <a:ext cx="1325880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Camera
Video /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2848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0008" y="1691640"/>
            <a:ext cx="1783080" cy="1828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41448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 Emoj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YOLOv11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8608" y="2871216"/>
            <a:ext cx="1325879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1448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Object Detection
2D Boxes + Classes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78808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691640"/>
            <a:ext cx="1783080" cy="1828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07407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 Emoji"/>
              </a:rPr>
              <a:t>🛣️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Ultra-Fast
Lane v2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44568" y="2871216"/>
            <a:ext cx="1325880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7407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Lane Detection
F1 &gt; 96%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44768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7" y="1691640"/>
            <a:ext cx="1783080" cy="1828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7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 Emoji"/>
              </a:rPr>
              <a:t>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7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Depth
Anything V2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10527" y="2871216"/>
            <a:ext cx="1325879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7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Monocular Depth
Metric Distance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7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7888" y="1691640"/>
            <a:ext cx="1783080" cy="1828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39327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 Emoji"/>
              </a:rP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ByteTrack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76488" y="2871216"/>
            <a:ext cx="1325879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39327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Multi-Object
Tracking + Velocity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76688" y="2377440"/>
            <a:ext cx="182880" cy="36576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13848" y="1691640"/>
            <a:ext cx="1783080" cy="18288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05288" y="1755648"/>
            <a:ext cx="16002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 Emoji"/>
              </a:rPr>
              <a:t>⚠️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05288" y="2212848"/>
            <a:ext cx="160020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TTC
Calculator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42448" y="2871216"/>
            <a:ext cx="1325879" cy="127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05288" y="2926080"/>
            <a:ext cx="1600200" cy="566928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 Light"/>
              </a:rPr>
              <a:t>Collision Risk
Time-to-Collision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3840480"/>
            <a:ext cx="11384280" cy="109728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041648"/>
            <a:ext cx="1106424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OUTPUT  —  Single annotated frame: Bounding Boxes  ·  Track IDs  ·  Lane Overlay  ·  Depth Heatmap  ·  ⚠ Collision Warning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434840"/>
            <a:ext cx="11064240" cy="36576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  <a:latin typeface="Calibri Light"/>
              </a:rPr>
              <a:t>Export: ONNX  ·  TensorRT (3–5× faster)  ·  CoreML  ·  OpenVINO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120640"/>
            <a:ext cx="1124712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 Light"/>
              </a:rPr>
              <a:t>Training: BEVFormer (camera-only 3D) and BEVFusion (LiDAR+Camera 3D) run in parallel track on HPC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Models, Frameworks &amp; Tools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45920"/>
            <a:ext cx="54864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19072"/>
            <a:ext cx="3566160" cy="32004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Calibri"/>
              </a:rPr>
              <a:t>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066544"/>
            <a:ext cx="3429000" cy="1016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48840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YOLOv11 (2D, real-time)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96312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YOLOv10 (NMS-free)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43784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RT-DETR (transformer)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91256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Grounding DINO (open-vocab)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645920"/>
            <a:ext cx="54864" cy="19202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1719072"/>
            <a:ext cx="3566160" cy="32004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3D / BEV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07992" y="2066544"/>
            <a:ext cx="3428999" cy="1016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7992" y="2148840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BEVFormer (camera-only)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7992" y="2496312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BEVFusion (LiDAR+cam)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843784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Sparse4D v3 (temporal)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3191256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StreamPETR (online)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1645920"/>
            <a:ext cx="54864" cy="192024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1719072"/>
            <a:ext cx="3566160" cy="32004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Lane &amp; Depth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21624" y="2066544"/>
            <a:ext cx="3429000" cy="1016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1624" y="2148840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Ultra-Fast Lane 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21624" y="2496312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CLRNet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21624" y="2843784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Depth Anything V2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3191256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Metric depth (absolute)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977639"/>
            <a:ext cx="54864" cy="192024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050791"/>
            <a:ext cx="3566160" cy="32004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  <a:latin typeface="Calibri"/>
              </a:rPr>
              <a:t>Tracking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398264"/>
            <a:ext cx="3429000" cy="1016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480559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ByteTrack (primary)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828031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BotSort (ReID-enhanced)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175503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Simple IoU Tracker (baseline)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5112" y="3977639"/>
            <a:ext cx="54864" cy="192024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07992" y="4050791"/>
            <a:ext cx="3566160" cy="320040"/>
          </a:xfrm>
          <a:prstGeom prst="rect">
            <a:avLst/>
          </a:prstGeom>
          <a:noFill/>
          <a:ln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  <a:latin typeface="Calibri"/>
              </a:rPr>
              <a:t>Frameworks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07992" y="4398264"/>
            <a:ext cx="3428999" cy="1016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07992" y="4480559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PyTorch + TorchVision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4828031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Ultralytics Ecosystem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5175503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MMDetection3D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992" y="5522975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Albumentations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38744" y="3977639"/>
            <a:ext cx="54864" cy="192024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21624" y="4050791"/>
            <a:ext cx="3566160" cy="320040"/>
          </a:xfrm>
          <a:prstGeom prst="rect">
            <a:avLst/>
          </a:prstGeom>
          <a:noFill/>
          <a:ln>
            <a:solidFill>
              <a:srgbClr val="EF444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F4444"/>
                </a:solidFill>
                <a:latin typeface="Calibri"/>
              </a:rPr>
              <a:t>Infra / Deploy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21624" y="4398264"/>
            <a:ext cx="3429000" cy="10160"/>
          </a:xfrm>
          <a:prstGeom prst="rect">
            <a:avLst/>
          </a:prstGeom>
          <a:solidFill>
            <a:srgbClr val="6B7280"/>
          </a:solidFill>
          <a:ln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21624" y="4480559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HPC + SLURM + DDP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1624" y="4828031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Mixed Precision (AMP)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21624" y="5175503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ONNX / TensorRT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21624" y="5522975"/>
            <a:ext cx="356616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5E7EB"/>
                </a:solidFill>
                <a:latin typeface="Calibri Light"/>
              </a:rPr>
              <a:t>·  TensorBoard / WandB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DATASETS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 Light"/>
              </a:rPr>
              <a:t>Benchmarks Used for Training &amp; Evaluation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00200"/>
            <a:ext cx="64008" cy="425196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27632"/>
            <a:ext cx="3611880" cy="5029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3E"/>
                </a:solidFill>
                <a:latin typeface="Calibri Light"/>
              </a:rPr>
              <a:t>KITTI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361188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2D &amp; 3D Object Detection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468880"/>
            <a:ext cx="3474720" cy="1270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578608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2578608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8 — Car, Van, Truck, Pedestrian,
Cyclist, Tram, Misc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236976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Samples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09928" y="3236976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7,481 training / 7,518 testing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3895344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Sensors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3895344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Stereo camera + 64-beam Velodyne LiDAR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553712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4553712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AP at 0.5/0.7 IoU (Easy / Moderate / Hard)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212079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5212079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cvlibs.net/datasets/kitti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15968" y="1600200"/>
            <a:ext cx="64008" cy="42519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627632"/>
            <a:ext cx="3611880" cy="5029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Calibri Light"/>
              </a:rPr>
              <a:t>nuScenes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103120"/>
            <a:ext cx="361188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Multi-Camera 3D Detection &amp; Tracking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98848" y="2468880"/>
            <a:ext cx="3474719" cy="1270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98848" y="2578608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Classes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41848" y="2578608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10 — Car, Truck, Bus, Pedestrian,
Cyclist, Motorcycle + more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236976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1848" y="3236976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700 train / 150 val scenes (28k frames)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3895344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Sensors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41848" y="3895344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6 cameras + 1 LiDAR + 5 radars, 360°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4553712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Metric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1848" y="4553712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NDS (nuScenes Detection Score), mAP, AMOTA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8" y="5212079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41848" y="5212079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nuscenes.org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7888" y="1600200"/>
            <a:ext cx="64008" cy="42519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7" y="1627632"/>
            <a:ext cx="3611880" cy="50292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 Light"/>
              </a:rPr>
              <a:t>TuSimple
&amp; CULane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0767" y="2103120"/>
            <a:ext cx="3611880" cy="32004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 Light"/>
              </a:rPr>
              <a:t>Lane Detection Benchmarks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0767" y="2468880"/>
            <a:ext cx="3474720" cy="12700"/>
          </a:xfrm>
          <a:prstGeom prst="rect">
            <a:avLst/>
          </a:prstGeom>
          <a:solidFill>
            <a:srgbClr val="E5E7E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7" y="2578608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TuSimple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73767" y="2578608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3,626 train / 2,782 test clips,
96.4% UFLD Acc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7" y="3236976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CULane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73767" y="3236976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88k train / 34k test frames,
Challenging urban scenes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30767" y="3895344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Metric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73767" y="3895344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F1@50 IoU (CULane), Accuracy (TuSimple)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7" y="4553712"/>
            <a:ext cx="1097280" cy="27432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D1B3E"/>
                </a:solidFill>
                <a:latin typeface="Calibri"/>
              </a:rPr>
              <a:t>Source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73767" y="4553712"/>
            <a:ext cx="2468880" cy="502920"/>
          </a:xfrm>
          <a:prstGeom prst="rect">
            <a:avLst/>
          </a:prstGeom>
          <a:noFill/>
          <a:ln>
            <a:solidFill>
              <a:srgbClr val="1F2A3C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A3C"/>
                </a:solidFill>
                <a:latin typeface="Calibri Light"/>
              </a:rPr>
              <a:t>github.com/TuSimple/tusimple-benchmark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TRAINING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High Performance Computing — Distributed Training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PyTorch Distributed Data Parallel  (DDP)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·  Each GPU holds a complete model copy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78608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·  Forward + backward run independently per GPU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54096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·  Gradients synchronized via NCCL all-reduce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9584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·  Effective batch = batch_per_gpu × num_gpus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05072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·  LR scaled linearly with effective batch size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80560"/>
            <a:ext cx="5486400" cy="4114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 Light"/>
              </a:rPr>
              <a:t>·  Mixed precision (AMP) gives ~2× speedup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600200"/>
            <a:ext cx="5349240" cy="4663440"/>
          </a:xfrm>
          <a:prstGeom prst="rect">
            <a:avLst/>
          </a:prstGeom>
          <a:solidFill>
            <a:srgbClr val="142654"/>
          </a:solidFill>
          <a:ln>
            <a:solidFill>
              <a:srgbClr val="14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664208"/>
            <a:ext cx="5029200" cy="32004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Calibri"/>
              </a:rPr>
              <a:t>SLURM Job Configuration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2029968"/>
            <a:ext cx="5074920" cy="127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502920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ourier New"/>
              </a:rPr>
              <a:t>#SBATCH --nodes=4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42032"/>
            <a:ext cx="502920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ourier New"/>
              </a:rPr>
              <a:t>#SBATCH --gres=gpu:8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935224"/>
            <a:ext cx="502920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59E0B"/>
                </a:solidFill>
                <a:latin typeface="Courier New"/>
              </a:rPr>
              <a:t>#SBATCH --time=48:00:00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328416"/>
            <a:ext cx="502920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721608"/>
            <a:ext cx="502920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ourier New"/>
              </a:rPr>
              <a:t>torchrun \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114800"/>
            <a:ext cx="502920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ourier New"/>
              </a:rPr>
              <a:t>  --nproc_per_node=8 \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07992"/>
            <a:ext cx="502920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ourier New"/>
              </a:rPr>
              <a:t>  --nnodes=4 \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901183"/>
            <a:ext cx="502920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  <a:latin typeface="Courier New"/>
              </a:rPr>
              <a:t>  --rdzv_backend=c10d \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294376"/>
            <a:ext cx="502920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  training/train_ddp.py \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687568"/>
            <a:ext cx="5029200" cy="3657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  --config configs/yolo11.yaml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F"/>
          </a:solidFill>
          <a:ln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27432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563EB"/>
                </a:solidFill>
                <a:latin typeface="Calibri"/>
              </a:rPr>
              <a:t>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515600" cy="7772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3E"/>
                </a:solidFill>
                <a:latin typeface="Calibri Light"/>
              </a:rPr>
              <a:t>What Our Work Contributes to the Field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07008"/>
            <a:ext cx="3200400" cy="254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45920"/>
            <a:ext cx="54864" cy="6858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91640"/>
            <a:ext cx="320040" cy="36576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733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1B3E"/>
                </a:solidFill>
                <a:latin typeface="Calibri"/>
              </a:rPr>
              <a:t>Unified 5-Task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842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 Light"/>
              </a:rPr>
              <a:t>First open-source system combining object detection + lane detection + depth estimation
+ multi-object tracking + collision warning into one real-time HPC-trainable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560320"/>
            <a:ext cx="54864" cy="685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320040" cy="36576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877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1B3E"/>
                </a:solidFill>
                <a:latin typeface="Calibri"/>
              </a:rPr>
              <a:t>Novel TTC Estimation (Closes Gap G3)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8986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 Light"/>
              </a:rPr>
              <a:t>First integration of ByteTrack per-object velocity with Depth Anything V2 metric depth
for real-time Time-to-Collision estimation from a single monocular camera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474720"/>
            <a:ext cx="54864" cy="6858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20440"/>
            <a:ext cx="320040" cy="36576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5021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1B3E"/>
                </a:solidFill>
                <a:latin typeface="Calibri"/>
              </a:rPr>
              <a:t>Open-Vocab on Driving Data (Closes Gap G4)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130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 Light"/>
              </a:rPr>
              <a:t>First evaluation of Grounding DINO on KITTI and nuScenes — establishing a zero-shot
baseline against fine-tuned YOLOv11 on driving benchmarks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389120"/>
            <a:ext cx="54864" cy="685800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34840"/>
            <a:ext cx="320040" cy="36576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165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1B3E"/>
                </a:solidFill>
                <a:latin typeface="Calibri"/>
              </a:rPr>
              <a:t>Camera vs Fusion Comparison (Closes Gap G2)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7274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 Light"/>
              </a:rPr>
              <a:t>Controlled comparison of BEVFormer (camera-only) vs BEVFusion (LiDAR+camera)
under identical training settings to quantify the sensor fusion benefit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" y="5303520"/>
            <a:ext cx="54864" cy="6858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349240"/>
            <a:ext cx="320040" cy="365760"/>
          </a:xfrm>
          <a:prstGeom prst="rect">
            <a:avLst/>
          </a:prstGeom>
          <a:noFill/>
          <a:ln>
            <a:solidFill>
              <a:srgbClr val="F97316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7316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330952"/>
            <a:ext cx="10515600" cy="320040"/>
          </a:xfrm>
          <a:prstGeom prst="rect">
            <a:avLst/>
          </a:prstGeom>
          <a:noFill/>
          <a:ln>
            <a:solidFill>
              <a:srgbClr val="0D1B3E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D1B3E"/>
                </a:solidFill>
                <a:latin typeface="Calibri"/>
              </a:rPr>
              <a:t>HPC-Ready Open Codebase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641848"/>
            <a:ext cx="10515600" cy="475488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6B7280"/>
                </a:solidFill>
                <a:latin typeface="Calibri Light"/>
              </a:rPr>
              <a:t>Full pipeline with SLURM scripts, DDP training, ONNX/TensorRT export and
MMDetection3D integration — reproducible on any HPC cluster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4572000" cy="27432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  <a:latin typeface="Calibri"/>
              </a:rPr>
              <a:t>EXPECTED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10515600" cy="82296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 Light"/>
              </a:rPr>
              <a:t>Performance Targets &amp; Evaluation Plan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3657600" cy="25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91640"/>
            <a:ext cx="3611880" cy="1920240"/>
          </a:xfrm>
          <a:prstGeom prst="rect">
            <a:avLst/>
          </a:prstGeom>
          <a:solidFill>
            <a:srgbClr val="142654"/>
          </a:solidFill>
          <a:ln>
            <a:solidFill>
              <a:srgbClr val="14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91640"/>
            <a:ext cx="36118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5623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YOLOv11
(KITTI)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mAP@0.5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3383280" cy="45720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63EB"/>
                </a:solidFill>
                <a:latin typeface="Calibri Light"/>
              </a:rPr>
              <a:t>≥ 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0040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5E7EB"/>
                </a:solidFill>
                <a:latin typeface="Calibri"/>
              </a:rPr>
              <a:t>2D Object Detection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91640"/>
            <a:ext cx="3611880" cy="1920240"/>
          </a:xfrm>
          <a:prstGeom prst="rect">
            <a:avLst/>
          </a:prstGeom>
          <a:solidFill>
            <a:srgbClr val="142654"/>
          </a:solidFill>
          <a:ln>
            <a:solidFill>
              <a:srgbClr val="14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611880" cy="54864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185623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YOLOv11
(nuScenes)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46888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mAP@0.5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15768"/>
            <a:ext cx="3383280" cy="457200"/>
          </a:xfrm>
          <a:prstGeom prst="rect">
            <a:avLst/>
          </a:prstGeom>
          <a:noFill/>
          <a:ln>
            <a:solidFill>
              <a:srgbClr val="2563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63EB"/>
                </a:solidFill>
                <a:latin typeface="Calibri Light"/>
              </a:rPr>
              <a:t>≥ 60%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20040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5E7EB"/>
                </a:solidFill>
                <a:latin typeface="Calibri"/>
              </a:rPr>
              <a:t>10-class vehicle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691640"/>
            <a:ext cx="3611880" cy="1920240"/>
          </a:xfrm>
          <a:prstGeom prst="rect">
            <a:avLst/>
          </a:prstGeom>
          <a:solidFill>
            <a:srgbClr val="142654"/>
          </a:solidFill>
          <a:ln>
            <a:solidFill>
              <a:srgbClr val="14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691640"/>
            <a:ext cx="361188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85623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BEVFormer
(nuScenes)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46888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NDS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715768"/>
            <a:ext cx="3383280" cy="45720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 Light"/>
              </a:rPr>
              <a:t>≥ 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0040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5E7EB"/>
                </a:solidFill>
                <a:latin typeface="Calibri"/>
              </a:rPr>
              <a:t>Camera-only 3D detection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23360"/>
            <a:ext cx="3611880" cy="1920240"/>
          </a:xfrm>
          <a:prstGeom prst="rect">
            <a:avLst/>
          </a:prstGeom>
          <a:solidFill>
            <a:srgbClr val="142654"/>
          </a:solidFill>
          <a:ln>
            <a:solidFill>
              <a:srgbClr val="14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023360"/>
            <a:ext cx="3611880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18795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BEVFusion
(nuScenes)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480060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NDS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047488"/>
            <a:ext cx="3383280" cy="457200"/>
          </a:xfrm>
          <a:prstGeom prst="rect">
            <a:avLst/>
          </a:prstGeom>
          <a:noFill/>
          <a:ln>
            <a:solidFill>
              <a:srgbClr val="F59E0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9E0B"/>
                </a:solidFill>
                <a:latin typeface="Calibri Light"/>
              </a:rPr>
              <a:t>≥ 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53212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5E7EB"/>
                </a:solidFill>
                <a:latin typeface="Calibri"/>
              </a:rPr>
              <a:t>LiDAR+Camera fusion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43400" y="4023360"/>
            <a:ext cx="3611880" cy="1920240"/>
          </a:xfrm>
          <a:prstGeom prst="rect">
            <a:avLst/>
          </a:prstGeom>
          <a:solidFill>
            <a:srgbClr val="142654"/>
          </a:solidFill>
          <a:ln>
            <a:solidFill>
              <a:srgbClr val="14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43400" y="4023360"/>
            <a:ext cx="3611880" cy="5486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80560" y="418795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UFLDv2
(TuSimple)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480060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047488"/>
            <a:ext cx="3383280" cy="457200"/>
          </a:xfrm>
          <a:prstGeom prst="rect">
            <a:avLst/>
          </a:prstGeom>
          <a:noFill/>
          <a:ln>
            <a:solidFill>
              <a:srgbClr val="10B98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0B981"/>
                </a:solidFill>
                <a:latin typeface="Calibri Light"/>
              </a:rPr>
              <a:t>≥ 96%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53212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5E7EB"/>
                </a:solidFill>
                <a:latin typeface="Calibri"/>
              </a:rPr>
              <a:t>Lane detection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023360"/>
            <a:ext cx="3611880" cy="1920240"/>
          </a:xfrm>
          <a:prstGeom prst="rect">
            <a:avLst/>
          </a:prstGeom>
          <a:solidFill>
            <a:srgbClr val="142654"/>
          </a:solidFill>
          <a:ln>
            <a:solidFill>
              <a:srgbClr val="1426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023360"/>
            <a:ext cx="3611880" cy="54864"/>
          </a:xfrm>
          <a:prstGeom prst="rect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187952"/>
            <a:ext cx="3383280" cy="6400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 Light"/>
              </a:rPr>
              <a:t>TTC System
(combined)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800600"/>
            <a:ext cx="3383280" cy="27432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280"/>
                </a:solidFill>
                <a:latin typeface="Calibri"/>
              </a:rPr>
              <a:t>Latency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047488"/>
            <a:ext cx="3383280" cy="457200"/>
          </a:xfrm>
          <a:prstGeom prst="rect">
            <a:avLst/>
          </a:prstGeom>
          <a:noFill/>
          <a:ln>
            <a:solidFill>
              <a:srgbClr val="06B6D4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B6D4"/>
                </a:solidFill>
                <a:latin typeface="Calibri Light"/>
              </a:rPr>
              <a:t>&lt; 50 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5532120"/>
            <a:ext cx="3383280" cy="32004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E5E7EB"/>
                </a:solidFill>
                <a:latin typeface="Calibri"/>
              </a:rPr>
              <a:t>Real-time on RTX 3090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E"/>
          </a:solidFill>
          <a:ln>
            <a:solidFill>
              <a:srgbClr val="0D1B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136831" y="0"/>
            <a:ext cx="54864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47120" cy="146304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017520"/>
            <a:ext cx="5760720" cy="254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200400"/>
            <a:ext cx="11247120" cy="457200"/>
          </a:xfrm>
          <a:prstGeom prst="rect">
            <a:avLst/>
          </a:prstGeom>
          <a:noFill/>
          <a:ln>
            <a:solidFill>
              <a:srgbClr val="93C5FD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93C5FD"/>
                </a:solidFill>
                <a:latin typeface="Calibri Light"/>
              </a:rPr>
              <a:t>Autonomous Vehicle &amp; Object Detection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31920"/>
            <a:ext cx="11247120" cy="34747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 Light"/>
              </a:rPr>
              <a:t>BEVFormer (ECCV 2022)  ·  BEVFusion (ICRA 2023)  ·  Sparse4D v3 (arXiv 2023)  ·  ByteTrack (ECCV 2022)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15968"/>
            <a:ext cx="11247120" cy="34747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 Light"/>
              </a:rPr>
              <a:t>CLRNet (CVPR 2022)  ·  UFLDv2 (TPAMI 2022)  ·  Depth Anything V2 (NeurIPS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0016"/>
            <a:ext cx="11247120" cy="34747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 Light"/>
              </a:rPr>
              <a:t>RT-DETR (CVPR 2024)  ·  YOLOv10 (NeurIPS 2024)  ·  YOLOv11 (Ultralytics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84064"/>
            <a:ext cx="11247120" cy="347472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7280"/>
                </a:solidFill>
                <a:latin typeface="Calibri Light"/>
              </a:rPr>
              <a:t>PointPillars (CVPR 2019)  ·  VoxelNet (CVPR 2018)  ·  DETR3D (CoRL 2022)  ·  Grounding DINO (ECCV 2024)  ·  StreamPETR (ICCV 2023)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623560"/>
            <a:ext cx="11247120" cy="27432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5E7EB"/>
                </a:solidFill>
                <a:latin typeface="Calibri"/>
              </a:rPr>
              <a:t>Datasets: KITTI  ·  nuScenes  ·  TuSimple  ·  CULane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>
            <a:solidFill>
              <a:srgbClr val="E5E7EB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5E7EB"/>
                </a:solidFill>
                <a:latin typeface="Calibri"/>
              </a:rPr>
              <a:t>Training Infrastructure: HPC Cluster  ·  SLURM  ·  PyTorch DDP  ·  Mixed Precision 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37960"/>
            <a:ext cx="1005840" cy="228600"/>
          </a:xfrm>
          <a:prstGeom prst="rect">
            <a:avLst/>
          </a:prstGeom>
          <a:noFill/>
          <a:ln>
            <a:solidFill>
              <a:srgbClr val="6B728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